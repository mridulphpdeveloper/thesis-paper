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2" r:id="rId1"/>
  </p:sldMasterIdLst>
  <p:notesMasterIdLst>
    <p:notesMasterId r:id="rId34"/>
  </p:notesMasterIdLst>
  <p:sldIdLst>
    <p:sldId id="256" r:id="rId2"/>
    <p:sldId id="258" r:id="rId3"/>
    <p:sldId id="312" r:id="rId4"/>
    <p:sldId id="276" r:id="rId5"/>
    <p:sldId id="290" r:id="rId6"/>
    <p:sldId id="298" r:id="rId7"/>
    <p:sldId id="268" r:id="rId8"/>
    <p:sldId id="291" r:id="rId9"/>
    <p:sldId id="288" r:id="rId10"/>
    <p:sldId id="293" r:id="rId11"/>
    <p:sldId id="289" r:id="rId12"/>
    <p:sldId id="294" r:id="rId13"/>
    <p:sldId id="299" r:id="rId14"/>
    <p:sldId id="300" r:id="rId15"/>
    <p:sldId id="263" r:id="rId16"/>
    <p:sldId id="314" r:id="rId17"/>
    <p:sldId id="301" r:id="rId18"/>
    <p:sldId id="302" r:id="rId19"/>
    <p:sldId id="303" r:id="rId20"/>
    <p:sldId id="304" r:id="rId21"/>
    <p:sldId id="305" r:id="rId22"/>
    <p:sldId id="306" r:id="rId23"/>
    <p:sldId id="307" r:id="rId24"/>
    <p:sldId id="308" r:id="rId25"/>
    <p:sldId id="309" r:id="rId26"/>
    <p:sldId id="313" r:id="rId27"/>
    <p:sldId id="315" r:id="rId28"/>
    <p:sldId id="310" r:id="rId29"/>
    <p:sldId id="264" r:id="rId30"/>
    <p:sldId id="266" r:id="rId31"/>
    <p:sldId id="311" r:id="rId32"/>
    <p:sldId id="272"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1" d="100"/>
          <a:sy n="61" d="100"/>
        </p:scale>
        <p:origin x="108" y="7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kil Ahamed" userId="3f42698d6ddfc37f" providerId="LiveId" clId="{F50E1006-1A05-4A23-AA47-D426203B144E}"/>
    <pc:docChg chg="undo custSel addSld delSld modSld">
      <pc:chgData name="Shakil Ahamed" userId="3f42698d6ddfc37f" providerId="LiveId" clId="{F50E1006-1A05-4A23-AA47-D426203B144E}" dt="2022-07-26T05:43:14.157" v="441" actId="1038"/>
      <pc:docMkLst>
        <pc:docMk/>
      </pc:docMkLst>
      <pc:sldChg chg="addSp delSp modSp mod">
        <pc:chgData name="Shakil Ahamed" userId="3f42698d6ddfc37f" providerId="LiveId" clId="{F50E1006-1A05-4A23-AA47-D426203B144E}" dt="2022-07-26T05:43:14.157" v="441" actId="1038"/>
        <pc:sldMkLst>
          <pc:docMk/>
          <pc:sldMk cId="1958615888" sldId="256"/>
        </pc:sldMkLst>
        <pc:spChg chg="mod">
          <ac:chgData name="Shakil Ahamed" userId="3f42698d6ddfc37f" providerId="LiveId" clId="{F50E1006-1A05-4A23-AA47-D426203B144E}" dt="2022-07-26T05:42:19.277" v="330" actId="1076"/>
          <ac:spMkLst>
            <pc:docMk/>
            <pc:sldMk cId="1958615888" sldId="256"/>
            <ac:spMk id="2" creationId="{A03EC445-7847-2F85-FD3B-9602429ACAD4}"/>
          </ac:spMkLst>
        </pc:spChg>
        <pc:spChg chg="mod">
          <ac:chgData name="Shakil Ahamed" userId="3f42698d6ddfc37f" providerId="LiveId" clId="{F50E1006-1A05-4A23-AA47-D426203B144E}" dt="2022-07-26T05:43:14.157" v="441" actId="1038"/>
          <ac:spMkLst>
            <pc:docMk/>
            <pc:sldMk cId="1958615888" sldId="256"/>
            <ac:spMk id="4" creationId="{57CC0FFC-8B52-AAB0-EBB3-42E49E2FC37E}"/>
          </ac:spMkLst>
        </pc:spChg>
        <pc:spChg chg="mod">
          <ac:chgData name="Shakil Ahamed" userId="3f42698d6ddfc37f" providerId="LiveId" clId="{F50E1006-1A05-4A23-AA47-D426203B144E}" dt="2022-07-26T05:43:01.806" v="412" actId="1036"/>
          <ac:spMkLst>
            <pc:docMk/>
            <pc:sldMk cId="1958615888" sldId="256"/>
            <ac:spMk id="6" creationId="{CC7C4F3B-E4E4-7EB0-7FC9-06E6EB486B96}"/>
          </ac:spMkLst>
        </pc:spChg>
        <pc:spChg chg="mod">
          <ac:chgData name="Shakil Ahamed" userId="3f42698d6ddfc37f" providerId="LiveId" clId="{F50E1006-1A05-4A23-AA47-D426203B144E}" dt="2022-07-26T05:43:14.157" v="441" actId="1038"/>
          <ac:spMkLst>
            <pc:docMk/>
            <pc:sldMk cId="1958615888" sldId="256"/>
            <ac:spMk id="8" creationId="{C539F740-4706-CC2F-69A1-0B9D4F6C0CA2}"/>
          </ac:spMkLst>
        </pc:spChg>
        <pc:spChg chg="add mod">
          <ac:chgData name="Shakil Ahamed" userId="3f42698d6ddfc37f" providerId="LiveId" clId="{F50E1006-1A05-4A23-AA47-D426203B144E}" dt="2022-07-26T05:42:53.044" v="389" actId="1035"/>
          <ac:spMkLst>
            <pc:docMk/>
            <pc:sldMk cId="1958615888" sldId="256"/>
            <ac:spMk id="15" creationId="{CE36E6BF-F46A-5660-C4B3-B86D9CB420CE}"/>
          </ac:spMkLst>
        </pc:spChg>
        <pc:picChg chg="add del">
          <ac:chgData name="Shakil Ahamed" userId="3f42698d6ddfc37f" providerId="LiveId" clId="{F50E1006-1A05-4A23-AA47-D426203B144E}" dt="2022-07-26T05:30:19.411" v="1" actId="22"/>
          <ac:picMkLst>
            <pc:docMk/>
            <pc:sldMk cId="1958615888" sldId="256"/>
            <ac:picMk id="10" creationId="{994B9B00-03D8-AE33-E67F-77770BA8D39C}"/>
          </ac:picMkLst>
        </pc:picChg>
        <pc:picChg chg="add mod">
          <ac:chgData name="Shakil Ahamed" userId="3f42698d6ddfc37f" providerId="LiveId" clId="{F50E1006-1A05-4A23-AA47-D426203B144E}" dt="2022-07-26T05:42:24.875" v="331" actId="1076"/>
          <ac:picMkLst>
            <pc:docMk/>
            <pc:sldMk cId="1958615888" sldId="256"/>
            <ac:picMk id="12" creationId="{80812FDB-85EF-B4F6-A1BB-090184BDD0D1}"/>
          </ac:picMkLst>
        </pc:picChg>
        <pc:picChg chg="add mod">
          <ac:chgData name="Shakil Ahamed" userId="3f42698d6ddfc37f" providerId="LiveId" clId="{F50E1006-1A05-4A23-AA47-D426203B144E}" dt="2022-07-26T05:42:24.875" v="331" actId="1076"/>
          <ac:picMkLst>
            <pc:docMk/>
            <pc:sldMk cId="1958615888" sldId="256"/>
            <ac:picMk id="1026" creationId="{74010F27-54D3-4EBD-6091-051937153837}"/>
          </ac:picMkLst>
        </pc:picChg>
      </pc:sldChg>
      <pc:sldChg chg="new del">
        <pc:chgData name="Shakil Ahamed" userId="3f42698d6ddfc37f" providerId="LiveId" clId="{F50E1006-1A05-4A23-AA47-D426203B144E}" dt="2022-07-26T05:32:04.221" v="25" actId="47"/>
        <pc:sldMkLst>
          <pc:docMk/>
          <pc:sldMk cId="3816468874" sldId="257"/>
        </pc:sldMkLst>
      </pc:sldChg>
      <pc:sldChg chg="modSp add mod setBg">
        <pc:chgData name="Shakil Ahamed" userId="3f42698d6ddfc37f" providerId="LiveId" clId="{F50E1006-1A05-4A23-AA47-D426203B144E}" dt="2022-07-26T05:40:36.885" v="310" actId="1076"/>
        <pc:sldMkLst>
          <pc:docMk/>
          <pc:sldMk cId="3509302038" sldId="258"/>
        </pc:sldMkLst>
        <pc:spChg chg="mod">
          <ac:chgData name="Shakil Ahamed" userId="3f42698d6ddfc37f" providerId="LiveId" clId="{F50E1006-1A05-4A23-AA47-D426203B144E}" dt="2022-07-26T05:40:36.885" v="310" actId="1076"/>
          <ac:spMkLst>
            <pc:docMk/>
            <pc:sldMk cId="3509302038" sldId="258"/>
            <ac:spMk id="4" creationId="{C1A76018-8E2F-05E2-5B37-F9B3910CD969}"/>
          </ac:spMkLst>
        </pc:spChg>
        <pc:spChg chg="mod">
          <ac:chgData name="Shakil Ahamed" userId="3f42698d6ddfc37f" providerId="LiveId" clId="{F50E1006-1A05-4A23-AA47-D426203B144E}" dt="2022-07-26T05:32:43.117" v="35" actId="1076"/>
          <ac:spMkLst>
            <pc:docMk/>
            <pc:sldMk cId="3509302038" sldId="258"/>
            <ac:spMk id="5" creationId="{2BD43C6F-0C5F-EE70-208E-988B5593D214}"/>
          </ac:spMkLst>
        </pc:spChg>
      </pc:sldChg>
      <pc:sldChg chg="delSp modSp add mod setBg">
        <pc:chgData name="Shakil Ahamed" userId="3f42698d6ddfc37f" providerId="LiveId" clId="{F50E1006-1A05-4A23-AA47-D426203B144E}" dt="2022-07-26T05:40:23.164" v="308" actId="1076"/>
        <pc:sldMkLst>
          <pc:docMk/>
          <pc:sldMk cId="1526135354" sldId="259"/>
        </pc:sldMkLst>
        <pc:spChg chg="mod">
          <ac:chgData name="Shakil Ahamed" userId="3f42698d6ddfc37f" providerId="LiveId" clId="{F50E1006-1A05-4A23-AA47-D426203B144E}" dt="2022-07-26T05:40:23.164" v="308" actId="1076"/>
          <ac:spMkLst>
            <pc:docMk/>
            <pc:sldMk cId="1526135354" sldId="259"/>
            <ac:spMk id="2" creationId="{45553AF9-F23A-8E05-AC98-4B4B3DEBBDB0}"/>
          </ac:spMkLst>
        </pc:spChg>
        <pc:spChg chg="mod">
          <ac:chgData name="Shakil Ahamed" userId="3f42698d6ddfc37f" providerId="LiveId" clId="{F50E1006-1A05-4A23-AA47-D426203B144E}" dt="2022-07-26T05:34:54.714" v="113" actId="6549"/>
          <ac:spMkLst>
            <pc:docMk/>
            <pc:sldMk cId="1526135354" sldId="259"/>
            <ac:spMk id="3" creationId="{D320A4CF-086C-9DEE-D213-628C2DEA8989}"/>
          </ac:spMkLst>
        </pc:spChg>
        <pc:spChg chg="del mod">
          <ac:chgData name="Shakil Ahamed" userId="3f42698d6ddfc37f" providerId="LiveId" clId="{F50E1006-1A05-4A23-AA47-D426203B144E}" dt="2022-07-26T05:33:00.550" v="38" actId="478"/>
          <ac:spMkLst>
            <pc:docMk/>
            <pc:sldMk cId="1526135354" sldId="259"/>
            <ac:spMk id="4" creationId="{F7B3E229-A28C-55E1-FDD9-FD984C58964C}"/>
          </ac:spMkLst>
        </pc:spChg>
      </pc:sldChg>
      <pc:sldChg chg="modSp add mod setBg">
        <pc:chgData name="Shakil Ahamed" userId="3f42698d6ddfc37f" providerId="LiveId" clId="{F50E1006-1A05-4A23-AA47-D426203B144E}" dt="2022-07-26T05:40:17.588" v="306" actId="1076"/>
        <pc:sldMkLst>
          <pc:docMk/>
          <pc:sldMk cId="3327660144" sldId="260"/>
        </pc:sldMkLst>
        <pc:spChg chg="mod">
          <ac:chgData name="Shakil Ahamed" userId="3f42698d6ddfc37f" providerId="LiveId" clId="{F50E1006-1A05-4A23-AA47-D426203B144E}" dt="2022-07-26T05:40:17.588" v="306" actId="1076"/>
          <ac:spMkLst>
            <pc:docMk/>
            <pc:sldMk cId="3327660144" sldId="260"/>
            <ac:spMk id="2" creationId="{02994D5E-8E9D-C7FC-9638-F9B2EB73342F}"/>
          </ac:spMkLst>
        </pc:spChg>
        <pc:spChg chg="mod">
          <ac:chgData name="Shakil Ahamed" userId="3f42698d6ddfc37f" providerId="LiveId" clId="{F50E1006-1A05-4A23-AA47-D426203B144E}" dt="2022-07-26T05:36:04.076" v="157" actId="20577"/>
          <ac:spMkLst>
            <pc:docMk/>
            <pc:sldMk cId="3327660144" sldId="260"/>
            <ac:spMk id="3" creationId="{230575F0-B893-7D53-20C4-9A8CB3EB837A}"/>
          </ac:spMkLst>
        </pc:spChg>
      </pc:sldChg>
      <pc:sldChg chg="modSp add mod setBg">
        <pc:chgData name="Shakil Ahamed" userId="3f42698d6ddfc37f" providerId="LiveId" clId="{F50E1006-1A05-4A23-AA47-D426203B144E}" dt="2022-07-26T05:40:04.868" v="304" actId="1076"/>
        <pc:sldMkLst>
          <pc:docMk/>
          <pc:sldMk cId="1028170650" sldId="261"/>
        </pc:sldMkLst>
        <pc:spChg chg="mod">
          <ac:chgData name="Shakil Ahamed" userId="3f42698d6ddfc37f" providerId="LiveId" clId="{F50E1006-1A05-4A23-AA47-D426203B144E}" dt="2022-07-26T05:40:01.140" v="303" actId="1076"/>
          <ac:spMkLst>
            <pc:docMk/>
            <pc:sldMk cId="1028170650" sldId="261"/>
            <ac:spMk id="2" creationId="{1427F94A-BAFC-31C2-8413-2CB69F6131E8}"/>
          </ac:spMkLst>
        </pc:spChg>
        <pc:spChg chg="mod">
          <ac:chgData name="Shakil Ahamed" userId="3f42698d6ddfc37f" providerId="LiveId" clId="{F50E1006-1A05-4A23-AA47-D426203B144E}" dt="2022-07-26T05:40:04.868" v="304" actId="1076"/>
          <ac:spMkLst>
            <pc:docMk/>
            <pc:sldMk cId="1028170650" sldId="261"/>
            <ac:spMk id="3" creationId="{7E6BCDC3-F3BD-C5E3-8E93-4416BAAB4D5C}"/>
          </ac:spMkLst>
        </pc:spChg>
      </pc:sldChg>
      <pc:sldChg chg="modSp add mod setBg">
        <pc:chgData name="Shakil Ahamed" userId="3f42698d6ddfc37f" providerId="LiveId" clId="{F50E1006-1A05-4A23-AA47-D426203B144E}" dt="2022-07-26T05:39:47.733" v="300" actId="1076"/>
        <pc:sldMkLst>
          <pc:docMk/>
          <pc:sldMk cId="3870183318" sldId="262"/>
        </pc:sldMkLst>
        <pc:spChg chg="mod">
          <ac:chgData name="Shakil Ahamed" userId="3f42698d6ddfc37f" providerId="LiveId" clId="{F50E1006-1A05-4A23-AA47-D426203B144E}" dt="2022-07-26T05:39:47.733" v="300" actId="1076"/>
          <ac:spMkLst>
            <pc:docMk/>
            <pc:sldMk cId="3870183318" sldId="262"/>
            <ac:spMk id="2" creationId="{540ACDAC-38FE-914C-82F3-D97D4395FA5E}"/>
          </ac:spMkLst>
        </pc:spChg>
        <pc:spChg chg="mod">
          <ac:chgData name="Shakil Ahamed" userId="3f42698d6ddfc37f" providerId="LiveId" clId="{F50E1006-1A05-4A23-AA47-D426203B144E}" dt="2022-07-26T05:39:45.644" v="299" actId="1076"/>
          <ac:spMkLst>
            <pc:docMk/>
            <pc:sldMk cId="3870183318" sldId="262"/>
            <ac:spMk id="3" creationId="{7F9A466D-4D23-85EC-F938-50AAB2C652E8}"/>
          </ac:spMkLst>
        </pc:spChg>
      </pc:sldChg>
      <pc:sldChg chg="modSp add mod setBg">
        <pc:chgData name="Shakil Ahamed" userId="3f42698d6ddfc37f" providerId="LiveId" clId="{F50E1006-1A05-4A23-AA47-D426203B144E}" dt="2022-07-26T05:39:27.435" v="286" actId="1076"/>
        <pc:sldMkLst>
          <pc:docMk/>
          <pc:sldMk cId="4267582656" sldId="263"/>
        </pc:sldMkLst>
        <pc:spChg chg="mod">
          <ac:chgData name="Shakil Ahamed" userId="3f42698d6ddfc37f" providerId="LiveId" clId="{F50E1006-1A05-4A23-AA47-D426203B144E}" dt="2022-07-26T05:37:47.976" v="211" actId="123"/>
          <ac:spMkLst>
            <pc:docMk/>
            <pc:sldMk cId="4267582656" sldId="263"/>
            <ac:spMk id="3" creationId="{EA3F2003-EB5E-3675-1A86-7CAA27F92BF2}"/>
          </ac:spMkLst>
        </pc:spChg>
        <pc:spChg chg="mod">
          <ac:chgData name="Shakil Ahamed" userId="3f42698d6ddfc37f" providerId="LiveId" clId="{F50E1006-1A05-4A23-AA47-D426203B144E}" dt="2022-07-26T05:39:27.435" v="286" actId="1076"/>
          <ac:spMkLst>
            <pc:docMk/>
            <pc:sldMk cId="4267582656" sldId="263"/>
            <ac:spMk id="4" creationId="{B36561E5-C62E-B703-1BC6-3F00BFC84F73}"/>
          </ac:spMkLst>
        </pc:spChg>
      </pc:sldChg>
      <pc:sldChg chg="modSp add mod setBg">
        <pc:chgData name="Shakil Ahamed" userId="3f42698d6ddfc37f" providerId="LiveId" clId="{F50E1006-1A05-4A23-AA47-D426203B144E}" dt="2022-07-26T05:39:16.580" v="282" actId="1076"/>
        <pc:sldMkLst>
          <pc:docMk/>
          <pc:sldMk cId="298806494" sldId="264"/>
        </pc:sldMkLst>
        <pc:spChg chg="mod">
          <ac:chgData name="Shakil Ahamed" userId="3f42698d6ddfc37f" providerId="LiveId" clId="{F50E1006-1A05-4A23-AA47-D426203B144E}" dt="2022-07-26T05:38:05.367" v="218" actId="20577"/>
          <ac:spMkLst>
            <pc:docMk/>
            <pc:sldMk cId="298806494" sldId="264"/>
            <ac:spMk id="4" creationId="{B8D0BD8C-619E-1951-9078-74B7FF43E5C3}"/>
          </ac:spMkLst>
        </pc:spChg>
        <pc:spChg chg="mod">
          <ac:chgData name="Shakil Ahamed" userId="3f42698d6ddfc37f" providerId="LiveId" clId="{F50E1006-1A05-4A23-AA47-D426203B144E}" dt="2022-07-26T05:39:16.580" v="282" actId="1076"/>
          <ac:spMkLst>
            <pc:docMk/>
            <pc:sldMk cId="298806494" sldId="264"/>
            <ac:spMk id="5" creationId="{CC4E1834-7E70-3DAD-0D00-CAA405E6A873}"/>
          </ac:spMkLst>
        </pc:spChg>
      </pc:sldChg>
      <pc:sldChg chg="addSp delSp modSp add mod setBg">
        <pc:chgData name="Shakil Ahamed" userId="3f42698d6ddfc37f" providerId="LiveId" clId="{F50E1006-1A05-4A23-AA47-D426203B144E}" dt="2022-07-26T05:39:06.365" v="280" actId="1076"/>
        <pc:sldMkLst>
          <pc:docMk/>
          <pc:sldMk cId="3382115138" sldId="265"/>
        </pc:sldMkLst>
        <pc:spChg chg="mod">
          <ac:chgData name="Shakil Ahamed" userId="3f42698d6ddfc37f" providerId="LiveId" clId="{F50E1006-1A05-4A23-AA47-D426203B144E}" dt="2022-07-26T05:38:30.696" v="261" actId="1037"/>
          <ac:spMkLst>
            <pc:docMk/>
            <pc:sldMk cId="3382115138" sldId="265"/>
            <ac:spMk id="2" creationId="{F4970943-5AD4-AB16-82D8-F7E7E9F0D90C}"/>
          </ac:spMkLst>
        </pc:spChg>
        <pc:spChg chg="mod">
          <ac:chgData name="Shakil Ahamed" userId="3f42698d6ddfc37f" providerId="LiveId" clId="{F50E1006-1A05-4A23-AA47-D426203B144E}" dt="2022-07-26T05:38:30.696" v="261" actId="1037"/>
          <ac:spMkLst>
            <pc:docMk/>
            <pc:sldMk cId="3382115138" sldId="265"/>
            <ac:spMk id="3" creationId="{77102750-CE55-EB25-B922-D3FB635CC4BD}"/>
          </ac:spMkLst>
        </pc:spChg>
        <pc:spChg chg="mod">
          <ac:chgData name="Shakil Ahamed" userId="3f42698d6ddfc37f" providerId="LiveId" clId="{F50E1006-1A05-4A23-AA47-D426203B144E}" dt="2022-07-26T05:38:30.696" v="261" actId="1037"/>
          <ac:spMkLst>
            <pc:docMk/>
            <pc:sldMk cId="3382115138" sldId="265"/>
            <ac:spMk id="4" creationId="{A0289FCA-7BF1-F40C-7843-0296DBA25856}"/>
          </ac:spMkLst>
        </pc:spChg>
        <pc:spChg chg="mod">
          <ac:chgData name="Shakil Ahamed" userId="3f42698d6ddfc37f" providerId="LiveId" clId="{F50E1006-1A05-4A23-AA47-D426203B144E}" dt="2022-07-26T05:38:30.696" v="261" actId="1037"/>
          <ac:spMkLst>
            <pc:docMk/>
            <pc:sldMk cId="3382115138" sldId="265"/>
            <ac:spMk id="5" creationId="{625DF26B-C4D6-CE61-60D2-EAB4ECF82BD8}"/>
          </ac:spMkLst>
        </pc:spChg>
        <pc:spChg chg="mod">
          <ac:chgData name="Shakil Ahamed" userId="3f42698d6ddfc37f" providerId="LiveId" clId="{F50E1006-1A05-4A23-AA47-D426203B144E}" dt="2022-07-26T05:38:30.696" v="261" actId="1037"/>
          <ac:spMkLst>
            <pc:docMk/>
            <pc:sldMk cId="3382115138" sldId="265"/>
            <ac:spMk id="6" creationId="{B46190AB-E289-A611-DE8A-0FF6D5187A2D}"/>
          </ac:spMkLst>
        </pc:spChg>
        <pc:spChg chg="mod">
          <ac:chgData name="Shakil Ahamed" userId="3f42698d6ddfc37f" providerId="LiveId" clId="{F50E1006-1A05-4A23-AA47-D426203B144E}" dt="2022-07-26T05:38:30.696" v="261" actId="1037"/>
          <ac:spMkLst>
            <pc:docMk/>
            <pc:sldMk cId="3382115138" sldId="265"/>
            <ac:spMk id="10" creationId="{BE688D30-369D-99B2-E48D-1697C81A1C0F}"/>
          </ac:spMkLst>
        </pc:spChg>
        <pc:spChg chg="mod">
          <ac:chgData name="Shakil Ahamed" userId="3f42698d6ddfc37f" providerId="LiveId" clId="{F50E1006-1A05-4A23-AA47-D426203B144E}" dt="2022-07-26T05:38:30.696" v="261" actId="1037"/>
          <ac:spMkLst>
            <pc:docMk/>
            <pc:sldMk cId="3382115138" sldId="265"/>
            <ac:spMk id="13" creationId="{5EAADAC9-D599-3F9C-33D8-2CBD436BA131}"/>
          </ac:spMkLst>
        </pc:spChg>
        <pc:spChg chg="mod">
          <ac:chgData name="Shakil Ahamed" userId="3f42698d6ddfc37f" providerId="LiveId" clId="{F50E1006-1A05-4A23-AA47-D426203B144E}" dt="2022-07-26T05:38:30.696" v="261" actId="1037"/>
          <ac:spMkLst>
            <pc:docMk/>
            <pc:sldMk cId="3382115138" sldId="265"/>
            <ac:spMk id="14" creationId="{BD93525E-2847-EF3D-029C-DB37D7680651}"/>
          </ac:spMkLst>
        </pc:spChg>
        <pc:spChg chg="mod">
          <ac:chgData name="Shakil Ahamed" userId="3f42698d6ddfc37f" providerId="LiveId" clId="{F50E1006-1A05-4A23-AA47-D426203B144E}" dt="2022-07-26T05:38:30.696" v="261" actId="1037"/>
          <ac:spMkLst>
            <pc:docMk/>
            <pc:sldMk cId="3382115138" sldId="265"/>
            <ac:spMk id="15" creationId="{8700E27F-E1CB-328A-C9A5-2A83D4B6E12B}"/>
          </ac:spMkLst>
        </pc:spChg>
        <pc:spChg chg="mod">
          <ac:chgData name="Shakil Ahamed" userId="3f42698d6ddfc37f" providerId="LiveId" clId="{F50E1006-1A05-4A23-AA47-D426203B144E}" dt="2022-07-26T05:38:30.696" v="261" actId="1037"/>
          <ac:spMkLst>
            <pc:docMk/>
            <pc:sldMk cId="3382115138" sldId="265"/>
            <ac:spMk id="17" creationId="{FCAE2E62-A238-FA8C-D931-5D3082B6D2D6}"/>
          </ac:spMkLst>
        </pc:spChg>
        <pc:spChg chg="mod">
          <ac:chgData name="Shakil Ahamed" userId="3f42698d6ddfc37f" providerId="LiveId" clId="{F50E1006-1A05-4A23-AA47-D426203B144E}" dt="2022-07-26T05:38:30.696" v="261" actId="1037"/>
          <ac:spMkLst>
            <pc:docMk/>
            <pc:sldMk cId="3382115138" sldId="265"/>
            <ac:spMk id="18" creationId="{46B9B885-44AE-421D-E0C3-648D6E0E7A0A}"/>
          </ac:spMkLst>
        </pc:spChg>
        <pc:spChg chg="mod">
          <ac:chgData name="Shakil Ahamed" userId="3f42698d6ddfc37f" providerId="LiveId" clId="{F50E1006-1A05-4A23-AA47-D426203B144E}" dt="2022-07-26T05:38:30.696" v="261" actId="1037"/>
          <ac:spMkLst>
            <pc:docMk/>
            <pc:sldMk cId="3382115138" sldId="265"/>
            <ac:spMk id="19" creationId="{70769D8E-5D97-6A5A-5BEF-6817D1B81E07}"/>
          </ac:spMkLst>
        </pc:spChg>
        <pc:spChg chg="mod">
          <ac:chgData name="Shakil Ahamed" userId="3f42698d6ddfc37f" providerId="LiveId" clId="{F50E1006-1A05-4A23-AA47-D426203B144E}" dt="2022-07-26T05:38:30.696" v="261" actId="1037"/>
          <ac:spMkLst>
            <pc:docMk/>
            <pc:sldMk cId="3382115138" sldId="265"/>
            <ac:spMk id="20" creationId="{79F9066E-5F4B-6FAF-541F-65CA6FCE4B80}"/>
          </ac:spMkLst>
        </pc:spChg>
        <pc:spChg chg="mod">
          <ac:chgData name="Shakil Ahamed" userId="3f42698d6ddfc37f" providerId="LiveId" clId="{F50E1006-1A05-4A23-AA47-D426203B144E}" dt="2022-07-26T05:38:30.696" v="261" actId="1037"/>
          <ac:spMkLst>
            <pc:docMk/>
            <pc:sldMk cId="3382115138" sldId="265"/>
            <ac:spMk id="21" creationId="{96C4A462-8F52-A3F9-08DC-2B439A430802}"/>
          </ac:spMkLst>
        </pc:spChg>
        <pc:spChg chg="mod">
          <ac:chgData name="Shakil Ahamed" userId="3f42698d6ddfc37f" providerId="LiveId" clId="{F50E1006-1A05-4A23-AA47-D426203B144E}" dt="2022-07-26T05:38:30.696" v="261" actId="1037"/>
          <ac:spMkLst>
            <pc:docMk/>
            <pc:sldMk cId="3382115138" sldId="265"/>
            <ac:spMk id="22" creationId="{BFC7B31D-17AA-9369-47CF-BB1CD43AD09A}"/>
          </ac:spMkLst>
        </pc:spChg>
        <pc:spChg chg="add mod">
          <ac:chgData name="Shakil Ahamed" userId="3f42698d6ddfc37f" providerId="LiveId" clId="{F50E1006-1A05-4A23-AA47-D426203B144E}" dt="2022-07-26T05:39:06.365" v="280" actId="1076"/>
          <ac:spMkLst>
            <pc:docMk/>
            <pc:sldMk cId="3382115138" sldId="265"/>
            <ac:spMk id="23" creationId="{49BE8A1C-9EAB-D1D2-930C-A37A488F1A4C}"/>
          </ac:spMkLst>
        </pc:spChg>
        <pc:spChg chg="add del mod">
          <ac:chgData name="Shakil Ahamed" userId="3f42698d6ddfc37f" providerId="LiveId" clId="{F50E1006-1A05-4A23-AA47-D426203B144E}" dt="2022-07-26T05:38:45.144" v="267"/>
          <ac:spMkLst>
            <pc:docMk/>
            <pc:sldMk cId="3382115138" sldId="265"/>
            <ac:spMk id="24" creationId="{BA974165-EB56-CDD9-D99D-21B8290A7588}"/>
          </ac:spMkLst>
        </pc:spChg>
        <pc:cxnChg chg="mod">
          <ac:chgData name="Shakil Ahamed" userId="3f42698d6ddfc37f" providerId="LiveId" clId="{F50E1006-1A05-4A23-AA47-D426203B144E}" dt="2022-07-26T05:38:30.696" v="261" actId="1037"/>
          <ac:cxnSpMkLst>
            <pc:docMk/>
            <pc:sldMk cId="3382115138" sldId="265"/>
            <ac:cxnSpMk id="12" creationId="{9A981902-9484-D975-31AC-CBBB42DA622C}"/>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174A15-08AC-47F7-94F1-B8839EDF495B}" type="datetimeFigureOut">
              <a:rPr lang="en-US" smtClean="0"/>
              <a:t>10/31/2024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39B810-9BED-4E9D-95DC-53D707CDE044}" type="slidenum">
              <a:rPr lang="en-US" smtClean="0"/>
              <a:t>‹#›</a:t>
            </a:fld>
            <a:endParaRPr lang="en-US"/>
          </a:p>
        </p:txBody>
      </p:sp>
    </p:spTree>
    <p:extLst>
      <p:ext uri="{BB962C8B-B14F-4D97-AF65-F5344CB8AC3E}">
        <p14:creationId xmlns:p14="http://schemas.microsoft.com/office/powerpoint/2010/main" val="4053211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24E5FB1-07E2-4EFF-97D0-69E341073478}" type="datetime1">
              <a:rPr lang="en-US" smtClean="0"/>
              <a:t>10/31/2024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DA61CE-80EA-4586-AB04-B95879AC9DE7}" type="slidenum">
              <a:rPr lang="en-US" smtClean="0"/>
              <a:t>‹#›</a:t>
            </a:fld>
            <a:endParaRPr lang="en-US"/>
          </a:p>
        </p:txBody>
      </p:sp>
    </p:spTree>
    <p:extLst>
      <p:ext uri="{BB962C8B-B14F-4D97-AF65-F5344CB8AC3E}">
        <p14:creationId xmlns:p14="http://schemas.microsoft.com/office/powerpoint/2010/main" val="1076015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44162CF-7A9E-4564-A3FC-9ECA3F451D23}" type="datetime1">
              <a:rPr lang="en-US" smtClean="0"/>
              <a:t>10/31/2024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DA61CE-80EA-4586-AB04-B95879AC9DE7}" type="slidenum">
              <a:rPr lang="en-US" smtClean="0"/>
              <a:t>‹#›</a:t>
            </a:fld>
            <a:endParaRPr lang="en-US"/>
          </a:p>
        </p:txBody>
      </p:sp>
    </p:spTree>
    <p:extLst>
      <p:ext uri="{BB962C8B-B14F-4D97-AF65-F5344CB8AC3E}">
        <p14:creationId xmlns:p14="http://schemas.microsoft.com/office/powerpoint/2010/main" val="17910542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93B902-3378-40E0-9A0B-1058B3537388}" type="datetime1">
              <a:rPr lang="en-US" smtClean="0"/>
              <a:t>10/31/2024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DA61CE-80EA-4586-AB04-B95879AC9DE7}" type="slidenum">
              <a:rPr lang="en-US" smtClean="0"/>
              <a:t>‹#›</a:t>
            </a:fld>
            <a:endParaRPr lang="en-US"/>
          </a:p>
        </p:txBody>
      </p:sp>
    </p:spTree>
    <p:extLst>
      <p:ext uri="{BB962C8B-B14F-4D97-AF65-F5344CB8AC3E}">
        <p14:creationId xmlns:p14="http://schemas.microsoft.com/office/powerpoint/2010/main" val="4128589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DEE5D9C-1B38-47D3-AFD2-5C0A0DC2EFE5}" type="datetime1">
              <a:rPr lang="en-US" smtClean="0"/>
              <a:t>10/31/2024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DA61CE-80EA-4586-AB04-B95879AC9DE7}" type="slidenum">
              <a:rPr lang="en-US" smtClean="0"/>
              <a:t>‹#›</a:t>
            </a:fld>
            <a:endParaRPr lang="en-US"/>
          </a:p>
        </p:txBody>
      </p:sp>
    </p:spTree>
    <p:extLst>
      <p:ext uri="{BB962C8B-B14F-4D97-AF65-F5344CB8AC3E}">
        <p14:creationId xmlns:p14="http://schemas.microsoft.com/office/powerpoint/2010/main" val="2169326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3F0DA80-7A94-445A-85E3-1D1642CD1C6F}" type="datetime1">
              <a:rPr lang="en-US" smtClean="0"/>
              <a:t>10/31/2024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CDA61CE-80EA-4586-AB04-B95879AC9DE7}" type="slidenum">
              <a:rPr lang="en-US" smtClean="0"/>
              <a:t>‹#›</a:t>
            </a:fld>
            <a:endParaRPr lang="en-US"/>
          </a:p>
        </p:txBody>
      </p:sp>
    </p:spTree>
    <p:extLst>
      <p:ext uri="{BB962C8B-B14F-4D97-AF65-F5344CB8AC3E}">
        <p14:creationId xmlns:p14="http://schemas.microsoft.com/office/powerpoint/2010/main" val="2679755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3141DAE-F8B9-4041-8D5B-0DAABFD2BDC2}" type="datetime1">
              <a:rPr lang="en-US" smtClean="0"/>
              <a:t>10/31/2024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CDA61CE-80EA-4586-AB04-B95879AC9DE7}" type="slidenum">
              <a:rPr lang="en-US" smtClean="0"/>
              <a:t>‹#›</a:t>
            </a:fld>
            <a:endParaRPr lang="en-US"/>
          </a:p>
        </p:txBody>
      </p:sp>
    </p:spTree>
    <p:extLst>
      <p:ext uri="{BB962C8B-B14F-4D97-AF65-F5344CB8AC3E}">
        <p14:creationId xmlns:p14="http://schemas.microsoft.com/office/powerpoint/2010/main" val="16458829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E8DCCD-2197-469D-B2D6-07C5CCECD99C}" type="datetime1">
              <a:rPr lang="en-US" smtClean="0"/>
              <a:t>10/31/2024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CDA61CE-80EA-4586-AB04-B95879AC9DE7}" type="slidenum">
              <a:rPr lang="en-US" smtClean="0"/>
              <a:t>‹#›</a:t>
            </a:fld>
            <a:endParaRPr lang="en-US"/>
          </a:p>
        </p:txBody>
      </p:sp>
    </p:spTree>
    <p:extLst>
      <p:ext uri="{BB962C8B-B14F-4D97-AF65-F5344CB8AC3E}">
        <p14:creationId xmlns:p14="http://schemas.microsoft.com/office/powerpoint/2010/main" val="3889415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9A65C6-9819-4623-8CF6-389A28E19DD0}" type="datetime1">
              <a:rPr lang="en-US" smtClean="0"/>
              <a:t>10/31/2024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DA61CE-80EA-4586-AB04-B95879AC9DE7}" type="slidenum">
              <a:rPr lang="en-US" smtClean="0"/>
              <a:t>‹#›</a:t>
            </a:fld>
            <a:endParaRPr lang="en-US"/>
          </a:p>
        </p:txBody>
      </p:sp>
    </p:spTree>
    <p:extLst>
      <p:ext uri="{BB962C8B-B14F-4D97-AF65-F5344CB8AC3E}">
        <p14:creationId xmlns:p14="http://schemas.microsoft.com/office/powerpoint/2010/main" val="769716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DA61CE-80EA-4586-AB04-B95879AC9DE7}" type="slidenum">
              <a:rPr lang="en-US" smtClean="0"/>
              <a:t>‹#›</a:t>
            </a:fld>
            <a:endParaRPr lang="en-US"/>
          </a:p>
        </p:txBody>
      </p:sp>
      <p:sp>
        <p:nvSpPr>
          <p:cNvPr id="5" name="Date Placeholder 4"/>
          <p:cNvSpPr>
            <a:spLocks noGrp="1"/>
          </p:cNvSpPr>
          <p:nvPr>
            <p:ph type="dt" sz="half" idx="10"/>
          </p:nvPr>
        </p:nvSpPr>
        <p:spPr/>
        <p:txBody>
          <a:bodyPr/>
          <a:lstStyle/>
          <a:p>
            <a:fld id="{F3F9A576-CB90-447C-8CFC-5A97D3FA95BF}" type="datetime1">
              <a:rPr lang="en-US" smtClean="0"/>
              <a:t>10/31/2024</a:t>
            </a:fld>
            <a:endParaRPr lang="en-US"/>
          </a:p>
        </p:txBody>
      </p:sp>
    </p:spTree>
    <p:extLst>
      <p:ext uri="{BB962C8B-B14F-4D97-AF65-F5344CB8AC3E}">
        <p14:creationId xmlns:p14="http://schemas.microsoft.com/office/powerpoint/2010/main" val="10244850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0D2C80-A555-4279-9C00-1FDD77FBF30B}" type="datetime1">
              <a:rPr lang="en-US" smtClean="0"/>
              <a:t>10/31/2024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DA61CE-80EA-4586-AB04-B95879AC9DE7}" type="slidenum">
              <a:rPr lang="en-US" smtClean="0"/>
              <a:t>‹#›</a:t>
            </a:fld>
            <a:endParaRPr lang="en-US"/>
          </a:p>
        </p:txBody>
      </p:sp>
    </p:spTree>
    <p:extLst>
      <p:ext uri="{BB962C8B-B14F-4D97-AF65-F5344CB8AC3E}">
        <p14:creationId xmlns:p14="http://schemas.microsoft.com/office/powerpoint/2010/main" val="3082697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B64E1F1-B268-4ECC-8802-FD5B378D1A36}" type="datetime1">
              <a:rPr lang="en-US" smtClean="0"/>
              <a:t>10/31/2024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DA61CE-80EA-4586-AB04-B95879AC9DE7}"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8075463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E7851C-163A-4270-9F74-5BDB4A8BA248}" type="datetime1">
              <a:rPr lang="en-US" smtClean="0"/>
              <a:t>10/31/2024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DA61CE-80EA-4586-AB04-B95879AC9DE7}" type="slidenum">
              <a:rPr lang="en-US" smtClean="0"/>
              <a:t>‹#›</a:t>
            </a:fld>
            <a:endParaRPr lang="en-US"/>
          </a:p>
        </p:txBody>
      </p:sp>
    </p:spTree>
    <p:extLst>
      <p:ext uri="{BB962C8B-B14F-4D97-AF65-F5344CB8AC3E}">
        <p14:creationId xmlns:p14="http://schemas.microsoft.com/office/powerpoint/2010/main" val="39844215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8C3005-3ABD-426E-81E6-2DB78DD6D2AB}" type="datetime1">
              <a:rPr lang="en-US" smtClean="0"/>
              <a:t>10/31/2024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DA61CE-80EA-4586-AB04-B95879AC9DE7}"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8714233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F9B116-11CF-4A9D-B6BE-D412D92C64F2}" type="datetime1">
              <a:rPr lang="en-US" smtClean="0"/>
              <a:t>10/31/2024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DA61CE-80EA-4586-AB04-B95879AC9DE7}" type="slidenum">
              <a:rPr lang="en-US" smtClean="0"/>
              <a:t>‹#›</a:t>
            </a:fld>
            <a:endParaRPr lang="en-US"/>
          </a:p>
        </p:txBody>
      </p:sp>
    </p:spTree>
    <p:extLst>
      <p:ext uri="{BB962C8B-B14F-4D97-AF65-F5344CB8AC3E}">
        <p14:creationId xmlns:p14="http://schemas.microsoft.com/office/powerpoint/2010/main" val="17885023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6D5D18-CB3F-405F-882F-46F344CAB509}" type="datetime1">
              <a:rPr lang="en-US" smtClean="0"/>
              <a:t>10/31/2024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DA61CE-80EA-4586-AB04-B95879AC9DE7}" type="slidenum">
              <a:rPr lang="en-US" smtClean="0"/>
              <a:t>‹#›</a:t>
            </a:fld>
            <a:endParaRPr lang="en-US"/>
          </a:p>
        </p:txBody>
      </p:sp>
    </p:spTree>
    <p:extLst>
      <p:ext uri="{BB962C8B-B14F-4D97-AF65-F5344CB8AC3E}">
        <p14:creationId xmlns:p14="http://schemas.microsoft.com/office/powerpoint/2010/main" val="27901175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1BFF9F-19B9-4046-B5DB-612E19785982}" type="datetime1">
              <a:rPr lang="en-US" smtClean="0"/>
              <a:t>10/31/2024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DA61CE-80EA-4586-AB04-B95879AC9DE7}" type="slidenum">
              <a:rPr lang="en-US" smtClean="0"/>
              <a:t>‹#›</a:t>
            </a:fld>
            <a:endParaRPr lang="en-US"/>
          </a:p>
        </p:txBody>
      </p:sp>
    </p:spTree>
    <p:extLst>
      <p:ext uri="{BB962C8B-B14F-4D97-AF65-F5344CB8AC3E}">
        <p14:creationId xmlns:p14="http://schemas.microsoft.com/office/powerpoint/2010/main" val="39756520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0A8C1E2-967F-4DD9-8281-392E1513E16A}" type="datetime1">
              <a:rPr lang="en-US" smtClean="0"/>
              <a:t>10/31/2024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CDA61CE-80EA-4586-AB04-B95879AC9DE7}" type="slidenum">
              <a:rPr lang="en-US" smtClean="0"/>
              <a:t>‹#›</a:t>
            </a:fld>
            <a:endParaRPr lang="en-US"/>
          </a:p>
        </p:txBody>
      </p:sp>
    </p:spTree>
    <p:extLst>
      <p:ext uri="{BB962C8B-B14F-4D97-AF65-F5344CB8AC3E}">
        <p14:creationId xmlns:p14="http://schemas.microsoft.com/office/powerpoint/2010/main" val="691243331"/>
      </p:ext>
    </p:extLst>
  </p:cSld>
  <p:clrMap bg1="lt1" tx1="dk1" bg2="lt2" tx2="dk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8" r:id="rId6"/>
    <p:sldLayoutId id="2147483749" r:id="rId7"/>
    <p:sldLayoutId id="2147483750" r:id="rId8"/>
    <p:sldLayoutId id="2147483751" r:id="rId9"/>
    <p:sldLayoutId id="2147483752" r:id="rId10"/>
    <p:sldLayoutId id="2147483753" r:id="rId11"/>
    <p:sldLayoutId id="2147483754" r:id="rId12"/>
    <p:sldLayoutId id="2147483755" r:id="rId13"/>
    <p:sldLayoutId id="2147483756" r:id="rId14"/>
    <p:sldLayoutId id="2147483757" r:id="rId15"/>
    <p:sldLayoutId id="2147483758"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www.kaggle.com/datasets/ishandutta/early-stage-diabetes-risk-prediction-dataset/data" TargetMode="External"/><Relationship Id="rId2" Type="http://schemas.openxmlformats.org/officeDocument/2006/relationships/hyperlink" Target="http://www.kaggle.com/"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75674" y="318782"/>
            <a:ext cx="8155548" cy="137579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p>
        </p:txBody>
      </p:sp>
      <p:sp>
        <p:nvSpPr>
          <p:cNvPr id="2" name="Title 1">
            <a:extLst>
              <a:ext uri="{FF2B5EF4-FFF2-40B4-BE49-F238E27FC236}">
                <a16:creationId xmlns:a16="http://schemas.microsoft.com/office/drawing/2014/main" id="{A03EC445-7847-2F85-FD3B-9602429ACAD4}"/>
              </a:ext>
            </a:extLst>
          </p:cNvPr>
          <p:cNvSpPr>
            <a:spLocks noGrp="1"/>
          </p:cNvSpPr>
          <p:nvPr>
            <p:ph type="ctrTitle"/>
          </p:nvPr>
        </p:nvSpPr>
        <p:spPr>
          <a:xfrm>
            <a:off x="1175674" y="318782"/>
            <a:ext cx="8155548" cy="1375794"/>
          </a:xfrm>
        </p:spPr>
        <p:txBody>
          <a:bodyPr/>
          <a:lstStyle/>
          <a:p>
            <a:pPr algn="ctr"/>
            <a:r>
              <a:rPr lang="en-US" sz="2500" b="1" dirty="0">
                <a:solidFill>
                  <a:schemeClr val="tx1"/>
                </a:solidFill>
                <a:latin typeface="Times New Roman" panose="02020603050405020304" pitchFamily="18" charset="0"/>
                <a:cs typeface="Times New Roman" panose="02020603050405020304" pitchFamily="18" charset="0"/>
              </a:rPr>
              <a:t>“</a:t>
            </a:r>
            <a:r>
              <a:rPr lang="en-US" sz="2500" b="1" dirty="0">
                <a:solidFill>
                  <a:srgbClr val="000000"/>
                </a:solidFill>
                <a:latin typeface="Times New Roman" panose="02020603050405020304" pitchFamily="18" charset="0"/>
                <a:ea typeface="Times New Roman" panose="02020603050405020304" pitchFamily="18" charset="0"/>
              </a:rPr>
              <a:t>X-Random Forest: An Explainable AI Framework for Early Stage Diabetes Prediction with Hyperparameter Tuning and Cross-validation</a:t>
            </a:r>
            <a:r>
              <a:rPr lang="en-US" sz="2500" b="1" dirty="0">
                <a:solidFill>
                  <a:schemeClr val="tx1"/>
                </a:solidFill>
                <a:latin typeface="Times New Roman" panose="02020603050405020304" pitchFamily="18" charset="0"/>
                <a:cs typeface="Times New Roman" panose="02020603050405020304" pitchFamily="18" charset="0"/>
              </a:rPr>
              <a:t>”</a:t>
            </a:r>
          </a:p>
        </p:txBody>
      </p:sp>
      <p:grpSp>
        <p:nvGrpSpPr>
          <p:cNvPr id="16" name="Group 15"/>
          <p:cNvGrpSpPr/>
          <p:nvPr/>
        </p:nvGrpSpPr>
        <p:grpSpPr>
          <a:xfrm>
            <a:off x="6525224" y="3653871"/>
            <a:ext cx="3792905" cy="1736930"/>
            <a:chOff x="4795035" y="4561719"/>
            <a:chExt cx="3792905" cy="1736930"/>
          </a:xfrm>
        </p:grpSpPr>
        <p:sp>
          <p:nvSpPr>
            <p:cNvPr id="13" name="Rectangle 12"/>
            <p:cNvSpPr/>
            <p:nvPr/>
          </p:nvSpPr>
          <p:spPr>
            <a:xfrm>
              <a:off x="4795035" y="4595898"/>
              <a:ext cx="3792905" cy="170275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C539F740-4706-CC2F-69A1-0B9D4F6C0CA2}"/>
                </a:ext>
              </a:extLst>
            </p:cNvPr>
            <p:cNvSpPr txBox="1"/>
            <p:nvPr/>
          </p:nvSpPr>
          <p:spPr>
            <a:xfrm>
              <a:off x="5041184" y="4561719"/>
              <a:ext cx="3435784" cy="461665"/>
            </a:xfrm>
            <a:prstGeom prst="rect">
              <a:avLst/>
            </a:prstGeom>
            <a:noFill/>
          </p:spPr>
          <p:txBody>
            <a:bodyPr wrap="square">
              <a:spAutoFit/>
            </a:bodyPr>
            <a:lstStyle>
              <a:defPPr>
                <a:defRPr lang="en-US"/>
              </a:defPPr>
              <a:lvl1pPr algn="ctr">
                <a:defRPr sz="2400" b="1" u="sng">
                  <a:latin typeface="Times New Roman" panose="02020603050405020304" pitchFamily="18" charset="0"/>
                  <a:cs typeface="Times New Roman" panose="02020603050405020304" pitchFamily="18" charset="0"/>
                </a:defRPr>
              </a:lvl1pPr>
            </a:lstStyle>
            <a:p>
              <a:r>
                <a:rPr lang="en-US" dirty="0"/>
                <a:t>Presented By:</a:t>
              </a:r>
            </a:p>
          </p:txBody>
        </p:sp>
      </p:grpSp>
      <p:pic>
        <p:nvPicPr>
          <p:cNvPr id="1026" name="Picture 2" descr="Department of Computer Science and Engineering, IUBAT - Home | Facebook">
            <a:extLst>
              <a:ext uri="{FF2B5EF4-FFF2-40B4-BE49-F238E27FC236}">
                <a16:creationId xmlns:a16="http://schemas.microsoft.com/office/drawing/2014/main" id="{74010F27-54D3-4EBD-6091-0519371538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20853" y="5686573"/>
            <a:ext cx="1149673" cy="114967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80812FDB-85EF-B4F6-A1BB-090184BDD0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257" y="5683493"/>
            <a:ext cx="1151794" cy="1157139"/>
          </a:xfrm>
          <a:prstGeom prst="rect">
            <a:avLst/>
          </a:prstGeom>
        </p:spPr>
      </p:pic>
      <p:grpSp>
        <p:nvGrpSpPr>
          <p:cNvPr id="11" name="Group 10"/>
          <p:cNvGrpSpPr/>
          <p:nvPr/>
        </p:nvGrpSpPr>
        <p:grpSpPr>
          <a:xfrm>
            <a:off x="786195" y="3581919"/>
            <a:ext cx="4000523" cy="1882541"/>
            <a:chOff x="182866" y="3959847"/>
            <a:chExt cx="4000523" cy="1882541"/>
          </a:xfrm>
        </p:grpSpPr>
        <p:sp>
          <p:nvSpPr>
            <p:cNvPr id="6" name="Rectangle 5"/>
            <p:cNvSpPr/>
            <p:nvPr/>
          </p:nvSpPr>
          <p:spPr>
            <a:xfrm>
              <a:off x="390484" y="4031799"/>
              <a:ext cx="3792905" cy="170275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A606440C-915F-C76A-B0EF-430B94F2B96A}"/>
                </a:ext>
              </a:extLst>
            </p:cNvPr>
            <p:cNvSpPr txBox="1"/>
            <p:nvPr/>
          </p:nvSpPr>
          <p:spPr>
            <a:xfrm>
              <a:off x="605901" y="3959847"/>
              <a:ext cx="3362070" cy="461665"/>
            </a:xfrm>
            <a:prstGeom prst="rect">
              <a:avLst/>
            </a:prstGeom>
            <a:noFill/>
          </p:spPr>
          <p:txBody>
            <a:bodyPr wrap="square" rtlCol="0">
              <a:spAutoFit/>
            </a:bodyPr>
            <a:lstStyle/>
            <a:p>
              <a:pPr algn="ctr"/>
              <a:r>
                <a:rPr lang="en-US" sz="2400" b="1" u="sng" dirty="0">
                  <a:latin typeface="Times New Roman" panose="02020603050405020304" pitchFamily="18" charset="0"/>
                  <a:cs typeface="Times New Roman" panose="02020603050405020304" pitchFamily="18" charset="0"/>
                </a:rPr>
                <a:t>Supervised By</a:t>
              </a:r>
            </a:p>
          </p:txBody>
        </p:sp>
        <p:sp>
          <p:nvSpPr>
            <p:cNvPr id="5" name="TextBox 4">
              <a:extLst>
                <a:ext uri="{FF2B5EF4-FFF2-40B4-BE49-F238E27FC236}">
                  <a16:creationId xmlns:a16="http://schemas.microsoft.com/office/drawing/2014/main" id="{57E50663-6216-5623-E6E1-9A93D7B73205}"/>
                </a:ext>
              </a:extLst>
            </p:cNvPr>
            <p:cNvSpPr txBox="1"/>
            <p:nvPr/>
          </p:nvSpPr>
          <p:spPr>
            <a:xfrm>
              <a:off x="182866" y="4457393"/>
              <a:ext cx="4000523" cy="1384995"/>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Faniyam Maria Mansia</a:t>
              </a:r>
            </a:p>
            <a:p>
              <a:pPr algn="ctr"/>
              <a:r>
                <a:rPr lang="en-US" sz="1600" dirty="0">
                  <a:latin typeface="Times New Roman" panose="02020603050405020304" pitchFamily="18" charset="0"/>
                  <a:cs typeface="Times New Roman" panose="02020603050405020304" pitchFamily="18" charset="0"/>
                </a:rPr>
                <a:t>Lecturer </a:t>
              </a:r>
            </a:p>
            <a:p>
              <a:pPr algn="ctr"/>
              <a:r>
                <a:rPr lang="en-US" sz="1600" dirty="0">
                  <a:latin typeface="Times New Roman" panose="02020603050405020304" pitchFamily="18" charset="0"/>
                  <a:cs typeface="Times New Roman" panose="02020603050405020304" pitchFamily="18" charset="0"/>
                </a:rPr>
                <a:t>Department of Computer Science &amp; Engineering, IUBAT</a:t>
              </a:r>
            </a:p>
            <a:p>
              <a:pPr algn="ctr"/>
              <a:endParaRPr lang="en-US" dirty="0"/>
            </a:p>
          </p:txBody>
        </p:sp>
      </p:grpSp>
      <p:sp>
        <p:nvSpPr>
          <p:cNvPr id="9" name="Slide Number Placeholder 8">
            <a:extLst>
              <a:ext uri="{FF2B5EF4-FFF2-40B4-BE49-F238E27FC236}">
                <a16:creationId xmlns:a16="http://schemas.microsoft.com/office/drawing/2014/main" id="{2174B68D-81B4-7BBB-8D85-7023668C650B}"/>
              </a:ext>
            </a:extLst>
          </p:cNvPr>
          <p:cNvSpPr>
            <a:spLocks noGrp="1"/>
          </p:cNvSpPr>
          <p:nvPr>
            <p:ph type="sldNum" sz="quarter" idx="12"/>
          </p:nvPr>
        </p:nvSpPr>
        <p:spPr>
          <a:xfrm>
            <a:off x="11508661" y="6492875"/>
            <a:ext cx="683339" cy="365125"/>
          </a:xfrm>
        </p:spPr>
        <p:txBody>
          <a:bodyPr/>
          <a:lstStyle/>
          <a:p>
            <a:fld id="{DCDA61CE-80EA-4586-AB04-B95879AC9DE7}" type="slidenum">
              <a:rPr lang="en-US" sz="1800" b="1" smtClean="0">
                <a:solidFill>
                  <a:schemeClr val="tx1"/>
                </a:solidFill>
              </a:rPr>
              <a:t>1</a:t>
            </a:fld>
            <a:endParaRPr lang="en-US" sz="1800" b="1" dirty="0">
              <a:solidFill>
                <a:schemeClr val="tx1"/>
              </a:solidFill>
            </a:endParaRPr>
          </a:p>
        </p:txBody>
      </p:sp>
      <p:graphicFrame>
        <p:nvGraphicFramePr>
          <p:cNvPr id="10" name="Table 9"/>
          <p:cNvGraphicFramePr>
            <a:graphicFrameLocks noGrp="1"/>
          </p:cNvGraphicFramePr>
          <p:nvPr>
            <p:extLst>
              <p:ext uri="{D42A27DB-BD31-4B8C-83A1-F6EECF244321}">
                <p14:modId xmlns:p14="http://schemas.microsoft.com/office/powerpoint/2010/main" val="1575938887"/>
              </p:ext>
            </p:extLst>
          </p:nvPr>
        </p:nvGraphicFramePr>
        <p:xfrm>
          <a:off x="6636195" y="4223003"/>
          <a:ext cx="3570962" cy="1060330"/>
        </p:xfrm>
        <a:graphic>
          <a:graphicData uri="http://schemas.openxmlformats.org/drawingml/2006/table">
            <a:tbl>
              <a:tblPr firstRow="1" bandRow="1">
                <a:tableStyleId>{2D5ABB26-0587-4C30-8999-92F81FD0307C}</a:tableStyleId>
              </a:tblPr>
              <a:tblGrid>
                <a:gridCol w="1785481">
                  <a:extLst>
                    <a:ext uri="{9D8B030D-6E8A-4147-A177-3AD203B41FA5}">
                      <a16:colId xmlns:a16="http://schemas.microsoft.com/office/drawing/2014/main" val="2170941072"/>
                    </a:ext>
                  </a:extLst>
                </a:gridCol>
                <a:gridCol w="1785481">
                  <a:extLst>
                    <a:ext uri="{9D8B030D-6E8A-4147-A177-3AD203B41FA5}">
                      <a16:colId xmlns:a16="http://schemas.microsoft.com/office/drawing/2014/main" val="3058608761"/>
                    </a:ext>
                  </a:extLst>
                </a:gridCol>
              </a:tblGrid>
              <a:tr h="544699">
                <a:tc>
                  <a:txBody>
                    <a:bodyPr/>
                    <a:lstStyle/>
                    <a:p>
                      <a:r>
                        <a:rPr lang="en-US" sz="1400" dirty="0">
                          <a:latin typeface="Times New Roman" panose="02020603050405020304" pitchFamily="18" charset="0"/>
                          <a:cs typeface="Times New Roman" panose="02020603050405020304" pitchFamily="18" charset="0"/>
                        </a:rPr>
                        <a:t>Osman Gani Mridul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US" sz="1400" dirty="0">
                          <a:latin typeface="Times New Roman" panose="02020603050405020304" pitchFamily="18" charset="0"/>
                          <a:cs typeface="Times New Roman" panose="02020603050405020304" pitchFamily="18" charset="0"/>
                        </a:rPr>
                        <a:t>21103005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395888998"/>
                  </a:ext>
                </a:extLst>
              </a:tr>
              <a:tr h="515631">
                <a:tc>
                  <a:txBody>
                    <a:bodyPr/>
                    <a:lstStyle/>
                    <a:p>
                      <a:r>
                        <a:rPr lang="en-US" sz="1400" dirty="0">
                          <a:latin typeface="Times New Roman" panose="02020603050405020304" pitchFamily="18" charset="0"/>
                          <a:cs typeface="Times New Roman" panose="02020603050405020304" pitchFamily="18" charset="0"/>
                        </a:rPr>
                        <a:t>Md</a:t>
                      </a:r>
                      <a:r>
                        <a:rPr lang="en-US" sz="1400" baseline="0" dirty="0">
                          <a:latin typeface="Times New Roman" panose="02020603050405020304" pitchFamily="18" charset="0"/>
                          <a:cs typeface="Times New Roman" panose="02020603050405020304" pitchFamily="18" charset="0"/>
                        </a:rPr>
                        <a:t> Shahriar Hoque</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US" sz="1400" dirty="0">
                          <a:latin typeface="Times New Roman" panose="02020603050405020304" pitchFamily="18" charset="0"/>
                          <a:cs typeface="Times New Roman" panose="02020603050405020304" pitchFamily="18" charset="0"/>
                        </a:rPr>
                        <a:t>21103092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29821894"/>
                  </a:ext>
                </a:extLst>
              </a:tr>
            </a:tbl>
          </a:graphicData>
        </a:graphic>
      </p:graphicFrame>
      <p:sp>
        <p:nvSpPr>
          <p:cNvPr id="14" name="TextBox 13">
            <a:extLst>
              <a:ext uri="{FF2B5EF4-FFF2-40B4-BE49-F238E27FC236}">
                <a16:creationId xmlns:a16="http://schemas.microsoft.com/office/drawing/2014/main" id="{2BD43C6F-0C5F-EE70-208E-988B5593D214}"/>
              </a:ext>
            </a:extLst>
          </p:cNvPr>
          <p:cNvSpPr txBox="1"/>
          <p:nvPr/>
        </p:nvSpPr>
        <p:spPr>
          <a:xfrm>
            <a:off x="993813" y="1849672"/>
            <a:ext cx="8265630" cy="1477328"/>
          </a:xfrm>
          <a:prstGeom prst="rect">
            <a:avLst/>
          </a:prstGeom>
          <a:noFill/>
        </p:spPr>
        <p:txBody>
          <a:bodyPr wrap="square" rtlCol="0">
            <a:spAutoFit/>
          </a:bodyPr>
          <a:lstStyle/>
          <a:p>
            <a:pPr algn="ctr">
              <a:lnSpc>
                <a:spcPct val="150000"/>
              </a:lnSpc>
              <a:buClr>
                <a:schemeClr val="accent1"/>
              </a:buClr>
            </a:pPr>
            <a:r>
              <a:rPr lang="en-US" u="sng" dirty="0">
                <a:latin typeface="Times New Roman" panose="02020603050405020304" pitchFamily="18" charset="0"/>
                <a:cs typeface="Times New Roman" panose="02020603050405020304" pitchFamily="18" charset="0"/>
              </a:rPr>
              <a:t>P</a:t>
            </a:r>
            <a:r>
              <a:rPr lang="en-US" sz="1800" u="sng" dirty="0">
                <a:solidFill>
                  <a:schemeClr val="tx1"/>
                </a:solidFill>
                <a:latin typeface="Times New Roman" panose="02020603050405020304" pitchFamily="18" charset="0"/>
                <a:cs typeface="Times New Roman" panose="02020603050405020304" pitchFamily="18" charset="0"/>
              </a:rPr>
              <a:t>repared for:</a:t>
            </a:r>
            <a:br>
              <a:rPr lang="en-US" sz="1800" u="sng" dirty="0">
                <a:solidFill>
                  <a:schemeClr val="tx1"/>
                </a:solidFill>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a:t>
            </a:r>
            <a:r>
              <a:rPr lang="en-US" sz="1800" dirty="0">
                <a:solidFill>
                  <a:schemeClr val="tx1"/>
                </a:solidFill>
                <a:latin typeface="Times New Roman" panose="02020603050405020304" pitchFamily="18" charset="0"/>
                <a:cs typeface="Times New Roman" panose="02020603050405020304" pitchFamily="18" charset="0"/>
              </a:rPr>
              <a:t>hesis Defense Committee</a:t>
            </a:r>
          </a:p>
          <a:p>
            <a:pPr algn="ctr"/>
            <a:r>
              <a:rPr lang="en-US" sz="1800" dirty="0">
                <a:solidFill>
                  <a:schemeClr val="tx1"/>
                </a:solidFill>
                <a:latin typeface="Times New Roman" panose="02020603050405020304" pitchFamily="18" charset="0"/>
                <a:cs typeface="Times New Roman" panose="02020603050405020304" pitchFamily="18" charset="0"/>
              </a:rPr>
              <a:t>Department of </a:t>
            </a:r>
            <a:r>
              <a:rPr lang="en-US" dirty="0">
                <a:latin typeface="Times New Roman" panose="02020603050405020304" pitchFamily="18" charset="0"/>
                <a:cs typeface="Times New Roman" panose="02020603050405020304" pitchFamily="18" charset="0"/>
              </a:rPr>
              <a:t>C</a:t>
            </a:r>
            <a:r>
              <a:rPr lang="en-US" sz="1800" dirty="0">
                <a:solidFill>
                  <a:schemeClr val="tx1"/>
                </a:solidFill>
                <a:latin typeface="Times New Roman" panose="02020603050405020304" pitchFamily="18" charset="0"/>
                <a:cs typeface="Times New Roman" panose="02020603050405020304" pitchFamily="18" charset="0"/>
              </a:rPr>
              <a:t>omputer Science and Engineering</a:t>
            </a:r>
          </a:p>
          <a:p>
            <a:pPr algn="ctr"/>
            <a:r>
              <a:rPr lang="en-US" sz="1800" dirty="0">
                <a:solidFill>
                  <a:schemeClr val="tx1"/>
                </a:solidFill>
                <a:latin typeface="Times New Roman" panose="02020603050405020304" pitchFamily="18" charset="0"/>
                <a:cs typeface="Times New Roman" panose="02020603050405020304" pitchFamily="18" charset="0"/>
              </a:rPr>
              <a:t>IUBAT-International University of </a:t>
            </a:r>
            <a:r>
              <a:rPr lang="en-US" dirty="0">
                <a:latin typeface="Times New Roman" panose="02020603050405020304" pitchFamily="18" charset="0"/>
                <a:cs typeface="Times New Roman" panose="02020603050405020304" pitchFamily="18" charset="0"/>
              </a:rPr>
              <a:t>B</a:t>
            </a:r>
            <a:r>
              <a:rPr lang="en-US" sz="1800" dirty="0">
                <a:solidFill>
                  <a:schemeClr val="tx1"/>
                </a:solidFill>
                <a:latin typeface="Times New Roman" panose="02020603050405020304" pitchFamily="18" charset="0"/>
                <a:cs typeface="Times New Roman" panose="02020603050405020304" pitchFamily="18" charset="0"/>
              </a:rPr>
              <a:t>usiness Agriculture and Technology</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86158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499919" y="333277"/>
            <a:ext cx="6180743" cy="6817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latin typeface="Times New Roman" panose="02020603050405020304" pitchFamily="18" charset="0"/>
                <a:cs typeface="Times New Roman" panose="02020603050405020304" pitchFamily="18" charset="0"/>
              </a:rPr>
              <a:t>CONTENTS</a:t>
            </a:r>
            <a:endParaRPr lang="en-US" sz="3600" b="1" dirty="0">
              <a:solidFill>
                <a:schemeClr val="tx1"/>
              </a:solidFill>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1827E62B-4494-C5A5-26A7-E2911A5CD627}"/>
              </a:ext>
            </a:extLst>
          </p:cNvPr>
          <p:cNvSpPr>
            <a:spLocks noGrp="1"/>
          </p:cNvSpPr>
          <p:nvPr>
            <p:ph type="sldNum" sz="quarter" idx="12"/>
          </p:nvPr>
        </p:nvSpPr>
        <p:spPr>
          <a:xfrm>
            <a:off x="11508661" y="6492875"/>
            <a:ext cx="683339" cy="365125"/>
          </a:xfrm>
        </p:spPr>
        <p:txBody>
          <a:bodyPr/>
          <a:lstStyle/>
          <a:p>
            <a:fld id="{DCDA61CE-80EA-4586-AB04-B95879AC9DE7}" type="slidenum">
              <a:rPr lang="en-US" sz="1800" b="1" smtClean="0">
                <a:solidFill>
                  <a:schemeClr val="tx1"/>
                </a:solidFill>
              </a:rPr>
              <a:t>2</a:t>
            </a:fld>
            <a:endParaRPr lang="en-US" sz="1800" b="1" dirty="0">
              <a:solidFill>
                <a:schemeClr val="tx1"/>
              </a:solidFill>
            </a:endParaRPr>
          </a:p>
        </p:txBody>
      </p:sp>
      <p:sp>
        <p:nvSpPr>
          <p:cNvPr id="6" name="Content Placeholder 2">
            <a:extLst>
              <a:ext uri="{FF2B5EF4-FFF2-40B4-BE49-F238E27FC236}">
                <a16:creationId xmlns:a16="http://schemas.microsoft.com/office/drawing/2014/main" id="{CC37A508-4AFB-498D-ACCE-0A1B528853A7}"/>
              </a:ext>
            </a:extLst>
          </p:cNvPr>
          <p:cNvSpPr txBox="1">
            <a:spLocks/>
          </p:cNvSpPr>
          <p:nvPr/>
        </p:nvSpPr>
        <p:spPr>
          <a:xfrm>
            <a:off x="571500" y="1114426"/>
            <a:ext cx="8943975" cy="5553074"/>
          </a:xfrm>
          <a:prstGeom prst="rect">
            <a:avLst/>
          </a:prstGeom>
        </p:spPr>
        <p:style>
          <a:lnRef idx="2">
            <a:schemeClr val="accent3"/>
          </a:lnRef>
          <a:fillRef idx="1">
            <a:schemeClr val="lt1"/>
          </a:fillRef>
          <a:effectRef idx="0">
            <a:schemeClr val="accent3"/>
          </a:effectRef>
          <a:fontRef idx="minor">
            <a:schemeClr val="dk1"/>
          </a:fontRef>
        </p:style>
        <p:txBody>
          <a:bodyPr>
            <a:normAutofit fontScale="925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nSpc>
                <a:spcPct val="150000"/>
              </a:lnSpc>
              <a:buClr>
                <a:schemeClr val="accent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ABSTRACT</a:t>
            </a:r>
          </a:p>
          <a:p>
            <a:pPr marL="285750" indent="-285750">
              <a:lnSpc>
                <a:spcPct val="150000"/>
              </a:lnSpc>
              <a:buClr>
                <a:schemeClr val="accent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INTRODUCTION</a:t>
            </a:r>
          </a:p>
          <a:p>
            <a:pPr marL="285750" indent="-285750">
              <a:lnSpc>
                <a:spcPct val="150000"/>
              </a:lnSpc>
              <a:buClr>
                <a:schemeClr val="accent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OBJECTIVE OF THE STUDY</a:t>
            </a:r>
          </a:p>
          <a:p>
            <a:pPr marL="285750" indent="-285750">
              <a:lnSpc>
                <a:spcPct val="150000"/>
              </a:lnSpc>
              <a:buClr>
                <a:schemeClr val="accent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PROBLEM STATEMENT</a:t>
            </a:r>
          </a:p>
          <a:p>
            <a:pPr marL="285750" indent="-285750">
              <a:lnSpc>
                <a:spcPct val="150000"/>
              </a:lnSpc>
              <a:buClr>
                <a:schemeClr val="accent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LITERATURE REVIEW </a:t>
            </a:r>
          </a:p>
          <a:p>
            <a:pPr marL="285750" indent="-285750">
              <a:lnSpc>
                <a:spcPct val="150000"/>
              </a:lnSpc>
              <a:buClr>
                <a:schemeClr val="accent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METHODOLOGY</a:t>
            </a:r>
          </a:p>
          <a:p>
            <a:pPr marL="285750" indent="-285750">
              <a:lnSpc>
                <a:spcPct val="150000"/>
              </a:lnSpc>
              <a:buClr>
                <a:schemeClr val="accent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PROPOSED MODEL </a:t>
            </a:r>
          </a:p>
          <a:p>
            <a:pPr marL="285750" indent="-285750">
              <a:lnSpc>
                <a:spcPct val="150000"/>
              </a:lnSpc>
              <a:buClr>
                <a:schemeClr val="accent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RESULT AND  DISCUSSION</a:t>
            </a:r>
          </a:p>
          <a:p>
            <a:pPr marL="285750" indent="-285750">
              <a:lnSpc>
                <a:spcPct val="150000"/>
              </a:lnSpc>
              <a:buClr>
                <a:schemeClr val="accent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COMPARATIVE  ANALYSIS </a:t>
            </a:r>
          </a:p>
          <a:p>
            <a:pPr marL="285750" indent="-285750">
              <a:lnSpc>
                <a:spcPct val="150000"/>
              </a:lnSpc>
              <a:buClr>
                <a:schemeClr val="accent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CONCLUSION</a:t>
            </a:r>
          </a:p>
          <a:p>
            <a:pPr marL="285750" indent="-285750">
              <a:lnSpc>
                <a:spcPct val="150000"/>
              </a:lnSpc>
              <a:buClr>
                <a:schemeClr val="accent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REFERENCES</a:t>
            </a:r>
          </a:p>
          <a:p>
            <a:pPr marL="0" indent="0" algn="just">
              <a:lnSpc>
                <a:spcPct val="150000"/>
              </a:lnSpc>
              <a:buClr>
                <a:schemeClr val="tx1"/>
              </a:buClr>
              <a:buSzPct val="100000"/>
              <a:buNone/>
            </a:pPr>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9302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a:extLst>
              <a:ext uri="{FF2B5EF4-FFF2-40B4-BE49-F238E27FC236}">
                <a16:creationId xmlns:a16="http://schemas.microsoft.com/office/drawing/2014/main" id="{7FEDA829-D7E4-4CD7-F563-6F3CF9E63D45}"/>
              </a:ext>
            </a:extLst>
          </p:cNvPr>
          <p:cNvSpPr txBox="1">
            <a:spLocks/>
          </p:cNvSpPr>
          <p:nvPr/>
        </p:nvSpPr>
        <p:spPr>
          <a:xfrm>
            <a:off x="11361248" y="6492875"/>
            <a:ext cx="683339"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CDA61CE-80EA-4586-AB04-B95879AC9DE7}" type="slidenum">
              <a:rPr lang="en-US" sz="1800" b="1" smtClean="0">
                <a:solidFill>
                  <a:schemeClr val="tx1"/>
                </a:solidFill>
              </a:rPr>
              <a:pPr/>
              <a:t>3</a:t>
            </a:fld>
            <a:endParaRPr lang="en-US" sz="1800" b="1" dirty="0">
              <a:solidFill>
                <a:schemeClr val="tx1"/>
              </a:solidFill>
            </a:endParaRPr>
          </a:p>
        </p:txBody>
      </p:sp>
      <p:sp>
        <p:nvSpPr>
          <p:cNvPr id="5" name="Rectangle 4">
            <a:extLst>
              <a:ext uri="{FF2B5EF4-FFF2-40B4-BE49-F238E27FC236}">
                <a16:creationId xmlns:a16="http://schemas.microsoft.com/office/drawing/2014/main" id="{BB31C9E8-B74A-4F3C-9C1B-2DDE1A0C384B}"/>
              </a:ext>
            </a:extLst>
          </p:cNvPr>
          <p:cNvSpPr/>
          <p:nvPr/>
        </p:nvSpPr>
        <p:spPr>
          <a:xfrm>
            <a:off x="2461819" y="310162"/>
            <a:ext cx="6180743" cy="7153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latin typeface="Times New Roman" panose="02020603050405020304" pitchFamily="18" charset="0"/>
                <a:cs typeface="Times New Roman" panose="02020603050405020304" pitchFamily="18" charset="0"/>
              </a:rPr>
              <a:t>ABSTRACT</a:t>
            </a:r>
            <a:endParaRPr lang="en-US" sz="3200" dirty="0">
              <a:latin typeface="Arial Black" panose="020B0A04020102020204" pitchFamily="34" charset="0"/>
            </a:endParaRPr>
          </a:p>
        </p:txBody>
      </p:sp>
      <p:sp>
        <p:nvSpPr>
          <p:cNvPr id="7" name="Content Placeholder 2">
            <a:extLst>
              <a:ext uri="{FF2B5EF4-FFF2-40B4-BE49-F238E27FC236}">
                <a16:creationId xmlns:a16="http://schemas.microsoft.com/office/drawing/2014/main" id="{0F8F1CA0-1AE0-4AC6-95C9-076A414BDD0E}"/>
              </a:ext>
            </a:extLst>
          </p:cNvPr>
          <p:cNvSpPr txBox="1">
            <a:spLocks/>
          </p:cNvSpPr>
          <p:nvPr/>
        </p:nvSpPr>
        <p:spPr>
          <a:xfrm>
            <a:off x="678380" y="1257075"/>
            <a:ext cx="9252319" cy="4838925"/>
          </a:xfrm>
          <a:prstGeom prst="rect">
            <a:avLst/>
          </a:prstGeom>
        </p:spPr>
        <p:style>
          <a:lnRef idx="2">
            <a:schemeClr val="accent3"/>
          </a:lnRef>
          <a:fillRef idx="1">
            <a:schemeClr val="lt1"/>
          </a:fillRef>
          <a:effectRef idx="0">
            <a:schemeClr val="accent3"/>
          </a:effectRef>
          <a:fontRef idx="minor">
            <a:schemeClr val="dk1"/>
          </a:fontRef>
        </p:style>
        <p:txBody>
          <a:bodyP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Diabetes currently affects over 422 million people worldwide, presenting a significant global health challenge . Traditional detection methods lack insight into contributing factors, limiting prevention. This study introduces an Explainable Random Forest (XRF) model with 98.59% accuracy, using Explainable AI (XAI) to reveal key diabetes risk factors, aiding prevention and management.</a:t>
            </a:r>
          </a:p>
          <a:p>
            <a:pPr marL="0" indent="0" algn="just">
              <a:lnSpc>
                <a:spcPct val="150000"/>
              </a:lnSpc>
              <a:buNone/>
            </a:pPr>
            <a:endParaRPr lang="en-US" sz="2000" dirty="0">
              <a:latin typeface="Times New Roman" panose="02020603050405020304" pitchFamily="18" charset="0"/>
              <a:cs typeface="Times New Roman" panose="02020603050405020304" pitchFamily="18" charset="0"/>
            </a:endParaRPr>
          </a:p>
          <a:p>
            <a:pPr marL="0" indent="0" algn="just">
              <a:lnSpc>
                <a:spcPct val="150000"/>
              </a:lnSpc>
              <a:buNone/>
            </a:pPr>
            <a:r>
              <a:rPr lang="en-US" sz="2000" b="1" dirty="0">
                <a:latin typeface="Times New Roman" panose="02020603050405020304" pitchFamily="18" charset="0"/>
                <a:cs typeface="Times New Roman" panose="02020603050405020304" pitchFamily="18" charset="0"/>
              </a:rPr>
              <a:t>Index Terms</a:t>
            </a:r>
            <a:r>
              <a:rPr lang="en-US" sz="2000" dirty="0">
                <a:latin typeface="Times New Roman" panose="02020603050405020304" pitchFamily="18" charset="0"/>
                <a:cs typeface="Times New Roman" panose="02020603050405020304" pitchFamily="18" charset="0"/>
              </a:rPr>
              <a:t>—Explainable Random Forest (XRF), Diabetes Prediction, Explainable Artificial Intelligence (XAI), Hyperparameter Tuning, Cross-validation.</a:t>
            </a:r>
          </a:p>
          <a:p>
            <a:pPr marL="0" indent="0" algn="just">
              <a:lnSpc>
                <a:spcPct val="150000"/>
              </a:lnSpc>
              <a:buClr>
                <a:schemeClr val="tx1"/>
              </a:buClr>
              <a:buSzPct val="100000"/>
              <a:buNone/>
            </a:pPr>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3534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6E4A0F6-9369-CD71-653C-A6815164703E}"/>
              </a:ext>
            </a:extLst>
          </p:cNvPr>
          <p:cNvSpPr>
            <a:spLocks noGrp="1"/>
          </p:cNvSpPr>
          <p:nvPr>
            <p:ph type="sldNum" sz="quarter" idx="12"/>
          </p:nvPr>
        </p:nvSpPr>
        <p:spPr>
          <a:xfrm>
            <a:off x="11361248" y="6492875"/>
            <a:ext cx="683339" cy="365125"/>
          </a:xfrm>
        </p:spPr>
        <p:txBody>
          <a:bodyPr/>
          <a:lstStyle/>
          <a:p>
            <a:fld id="{DCDA61CE-80EA-4586-AB04-B95879AC9DE7}" type="slidenum">
              <a:rPr lang="en-US" sz="1800" b="1" smtClean="0">
                <a:solidFill>
                  <a:schemeClr val="tx1"/>
                </a:solidFill>
              </a:rPr>
              <a:t>4</a:t>
            </a:fld>
            <a:endParaRPr lang="en-US" sz="1800" b="1" dirty="0">
              <a:solidFill>
                <a:schemeClr val="tx1"/>
              </a:solidFill>
            </a:endParaRPr>
          </a:p>
        </p:txBody>
      </p:sp>
      <p:sp>
        <p:nvSpPr>
          <p:cNvPr id="7" name="Rectangle 6"/>
          <p:cNvSpPr/>
          <p:nvPr/>
        </p:nvSpPr>
        <p:spPr>
          <a:xfrm>
            <a:off x="2499919" y="333277"/>
            <a:ext cx="6180743" cy="7153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latin typeface="Times New Roman" panose="02020603050405020304" pitchFamily="18" charset="0"/>
                <a:cs typeface="Times New Roman" panose="02020603050405020304" pitchFamily="18" charset="0"/>
              </a:rPr>
              <a:t>INTRODUCTION</a:t>
            </a:r>
            <a:endParaRPr lang="en-US" sz="3200" dirty="0">
              <a:latin typeface="Arial Black" panose="020B0A04020102020204" pitchFamily="34" charset="0"/>
            </a:endParaRPr>
          </a:p>
        </p:txBody>
      </p:sp>
      <p:sp>
        <p:nvSpPr>
          <p:cNvPr id="6" name="Content Placeholder 2">
            <a:extLst>
              <a:ext uri="{FF2B5EF4-FFF2-40B4-BE49-F238E27FC236}">
                <a16:creationId xmlns:a16="http://schemas.microsoft.com/office/drawing/2014/main" id="{AE24F8B9-6022-4194-8DC4-B24F680E2D4A}"/>
              </a:ext>
            </a:extLst>
          </p:cNvPr>
          <p:cNvSpPr txBox="1">
            <a:spLocks/>
          </p:cNvSpPr>
          <p:nvPr/>
        </p:nvSpPr>
        <p:spPr>
          <a:xfrm>
            <a:off x="773630" y="1266600"/>
            <a:ext cx="9252319" cy="4838925"/>
          </a:xfrm>
          <a:prstGeom prst="rect">
            <a:avLst/>
          </a:prstGeom>
        </p:spPr>
        <p:style>
          <a:lnRef idx="2">
            <a:schemeClr val="accent3"/>
          </a:lnRef>
          <a:fillRef idx="1">
            <a:schemeClr val="lt1"/>
          </a:fillRef>
          <a:effectRef idx="0">
            <a:schemeClr val="accent3"/>
          </a:effectRef>
          <a:fontRef idx="minor">
            <a:schemeClr val="dk1"/>
          </a:fontRef>
        </p:style>
        <p:txBody>
          <a:bodyP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just">
              <a:lnSpc>
                <a:spcPct val="150000"/>
              </a:lnSpc>
              <a:buClr>
                <a:schemeClr val="tx1"/>
              </a:buClr>
              <a:buSzPct val="100000"/>
              <a:buNone/>
            </a:pPr>
            <a:r>
              <a:rPr lang="en-US" sz="2000" dirty="0">
                <a:latin typeface="Times New Roman" panose="02020603050405020304" pitchFamily="18" charset="0"/>
                <a:cs typeface="Times New Roman" panose="02020603050405020304" pitchFamily="18" charset="0"/>
              </a:rPr>
              <a:t>Diabetes currently impacts over 422 million people globally, and this figure is expected to rise to 490 million by 2030, posing a significant health challenge. Traditional diagnostic methods depend heavily on expert analysis, which may overlook early indicators. This study presents an enhanced Random Forest model paired with explainable AI to improve diabetes prediction accuracy. By identifying critical factors, this approach aims to support earlier interventions and improve disease management outcomes</a:t>
            </a:r>
            <a:r>
              <a:rPr lang="en-US" sz="2400" dirty="0"/>
              <a:t>.</a:t>
            </a:r>
            <a:endParaRPr lang="en-US" sz="2400" dirty="0">
              <a:latin typeface="Times New Roman" panose="02020603050405020304" pitchFamily="18" charset="0"/>
              <a:cs typeface="Times New Roman" panose="02020603050405020304" pitchFamily="18" charset="0"/>
            </a:endParaRPr>
          </a:p>
          <a:p>
            <a:pPr marL="0" indent="0" algn="just">
              <a:lnSpc>
                <a:spcPct val="150000"/>
              </a:lnSpc>
              <a:buClr>
                <a:schemeClr val="tx1"/>
              </a:buClr>
              <a:buSzPct val="100000"/>
              <a:buNone/>
            </a:pPr>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6140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11392682" y="6492875"/>
            <a:ext cx="683339" cy="365125"/>
          </a:xfrm>
        </p:spPr>
        <p:txBody>
          <a:bodyPr/>
          <a:lstStyle/>
          <a:p>
            <a:fld id="{DCDA61CE-80EA-4586-AB04-B95879AC9DE7}" type="slidenum">
              <a:rPr lang="en-US" sz="1800" b="1" smtClean="0">
                <a:solidFill>
                  <a:schemeClr val="tx1"/>
                </a:solidFill>
              </a:rPr>
              <a:t>5</a:t>
            </a:fld>
            <a:endParaRPr lang="en-US" sz="1800" b="1" dirty="0">
              <a:solidFill>
                <a:schemeClr val="tx1"/>
              </a:solidFill>
            </a:endParaRPr>
          </a:p>
        </p:txBody>
      </p:sp>
      <p:sp>
        <p:nvSpPr>
          <p:cNvPr id="7" name="Rectangle 6"/>
          <p:cNvSpPr/>
          <p:nvPr/>
        </p:nvSpPr>
        <p:spPr>
          <a:xfrm>
            <a:off x="2289712" y="301746"/>
            <a:ext cx="6180743" cy="6881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latin typeface="Times New Roman" panose="02020603050405020304" pitchFamily="18" charset="0"/>
                <a:cs typeface="Times New Roman" panose="02020603050405020304" pitchFamily="18" charset="0"/>
              </a:rPr>
              <a:t>OBJECTIVE OF THE STUDY</a:t>
            </a:r>
          </a:p>
        </p:txBody>
      </p:sp>
      <p:sp>
        <p:nvSpPr>
          <p:cNvPr id="6" name="Content Placeholder 2">
            <a:extLst>
              <a:ext uri="{FF2B5EF4-FFF2-40B4-BE49-F238E27FC236}">
                <a16:creationId xmlns:a16="http://schemas.microsoft.com/office/drawing/2014/main" id="{DE3F21BF-09E2-4344-884D-0F8DE2D32CFB}"/>
              </a:ext>
            </a:extLst>
          </p:cNvPr>
          <p:cNvSpPr txBox="1">
            <a:spLocks/>
          </p:cNvSpPr>
          <p:nvPr/>
        </p:nvSpPr>
        <p:spPr>
          <a:xfrm>
            <a:off x="815606" y="1221419"/>
            <a:ext cx="9252319" cy="5271455"/>
          </a:xfrm>
          <a:prstGeom prst="rect">
            <a:avLst/>
          </a:prstGeom>
        </p:spPr>
        <p:style>
          <a:lnRef idx="2">
            <a:schemeClr val="accent3"/>
          </a:lnRef>
          <a:fillRef idx="1">
            <a:schemeClr val="lt1"/>
          </a:fillRef>
          <a:effectRef idx="0">
            <a:schemeClr val="accent3"/>
          </a:effectRef>
          <a:fontRef idx="minor">
            <a:schemeClr val="dk1"/>
          </a:fontRef>
        </p:style>
        <p:txBody>
          <a:bodyP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Develop an Explainable Random Forest (XRF) model for accurate diabetes prediction. </a:t>
            </a:r>
          </a:p>
          <a:p>
            <a:pPr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Use AI to identify important factors that lead to diabetes.</a:t>
            </a:r>
          </a:p>
          <a:p>
            <a:pPr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Use Explainable AI (XAI) methods to help understand how the model makes predictions.</a:t>
            </a:r>
          </a:p>
          <a:p>
            <a:pPr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Provide helpful advice for people at risk of diabetes and support those who have it.</a:t>
            </a:r>
          </a:p>
          <a:p>
            <a:pPr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Make sure the data is well-prepared for training and testing the model.</a:t>
            </a:r>
          </a:p>
          <a:p>
            <a:pPr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Compare the XRF model with other classifiers to show how well it works.</a:t>
            </a:r>
          </a:p>
          <a:p>
            <a:pPr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Use 10-fold cross-validation to make sure the model performs reliably.</a:t>
            </a:r>
          </a:p>
          <a:p>
            <a:pPr marL="0" indent="0">
              <a:buNone/>
            </a:pPr>
            <a:endParaRPr lang="en-US" sz="2000" dirty="0">
              <a:latin typeface="Times New Roman" panose="02020603050405020304" pitchFamily="18" charset="0"/>
              <a:cs typeface="Times New Roman" panose="02020603050405020304" pitchFamily="18" charset="0"/>
            </a:endParaRPr>
          </a:p>
          <a:p>
            <a:pPr marL="0" indent="0" algn="just">
              <a:lnSpc>
                <a:spcPct val="150000"/>
              </a:lnSpc>
              <a:buClr>
                <a:schemeClr val="tx1"/>
              </a:buClr>
              <a:buSzPct val="100000"/>
              <a:buNone/>
            </a:pPr>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1737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8BEF4FD-5FFA-43D1-A39E-6BDB04BB7FFF}"/>
              </a:ext>
            </a:extLst>
          </p:cNvPr>
          <p:cNvSpPr>
            <a:spLocks noGrp="1"/>
          </p:cNvSpPr>
          <p:nvPr>
            <p:ph type="sldNum" sz="quarter" idx="12"/>
          </p:nvPr>
        </p:nvSpPr>
        <p:spPr>
          <a:xfrm>
            <a:off x="11400638" y="6526635"/>
            <a:ext cx="606804" cy="293615"/>
          </a:xfrm>
        </p:spPr>
        <p:txBody>
          <a:bodyPr/>
          <a:lstStyle/>
          <a:p>
            <a:fld id="{DCDA61CE-80EA-4586-AB04-B95879AC9DE7}" type="slidenum">
              <a:rPr lang="en-US" sz="1800" b="1" smtClean="0">
                <a:solidFill>
                  <a:schemeClr val="tx1"/>
                </a:solidFill>
                <a:latin typeface="Times New Roman" panose="02020603050405020304" pitchFamily="18" charset="0"/>
                <a:cs typeface="Times New Roman" panose="02020603050405020304" pitchFamily="18" charset="0"/>
              </a:rPr>
              <a:t>6</a:t>
            </a:fld>
            <a:endParaRPr lang="en-US" sz="1800" b="1" dirty="0">
              <a:solidFill>
                <a:schemeClr val="tx1"/>
              </a:solidFill>
              <a:latin typeface="Times New Roman" panose="02020603050405020304" pitchFamily="18" charset="0"/>
              <a:cs typeface="Times New Roman" panose="02020603050405020304" pitchFamily="18" charset="0"/>
            </a:endParaRPr>
          </a:p>
        </p:txBody>
      </p:sp>
      <p:sp>
        <p:nvSpPr>
          <p:cNvPr id="7" name="Rectangle 6"/>
          <p:cNvSpPr/>
          <p:nvPr/>
        </p:nvSpPr>
        <p:spPr>
          <a:xfrm>
            <a:off x="2298429" y="300978"/>
            <a:ext cx="6180743" cy="6734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latin typeface="Times New Roman" panose="02020603050405020304" pitchFamily="18" charset="0"/>
                <a:cs typeface="Times New Roman" panose="02020603050405020304" pitchFamily="18" charset="0"/>
              </a:rPr>
              <a:t>PROBLEM STATEMENT</a:t>
            </a:r>
          </a:p>
        </p:txBody>
      </p:sp>
      <p:sp>
        <p:nvSpPr>
          <p:cNvPr id="6" name="Content Placeholder 2">
            <a:extLst>
              <a:ext uri="{FF2B5EF4-FFF2-40B4-BE49-F238E27FC236}">
                <a16:creationId xmlns:a16="http://schemas.microsoft.com/office/drawing/2014/main" id="{DEEBEA0D-7E06-4D67-8F5B-EFB91C8965D6}"/>
              </a:ext>
            </a:extLst>
          </p:cNvPr>
          <p:cNvSpPr txBox="1">
            <a:spLocks/>
          </p:cNvSpPr>
          <p:nvPr/>
        </p:nvSpPr>
        <p:spPr>
          <a:xfrm>
            <a:off x="434606" y="1285567"/>
            <a:ext cx="9252319" cy="5271455"/>
          </a:xfrm>
          <a:prstGeom prst="rect">
            <a:avLst/>
          </a:prstGeom>
        </p:spPr>
        <p:style>
          <a:lnRef idx="2">
            <a:schemeClr val="accent3"/>
          </a:lnRef>
          <a:fillRef idx="1">
            <a:schemeClr val="lt1"/>
          </a:fillRef>
          <a:effectRef idx="0">
            <a:schemeClr val="accent3"/>
          </a:effectRef>
          <a:fontRef idx="minor">
            <a:schemeClr val="dk1"/>
          </a:fontRef>
        </p:style>
        <p:txBody>
          <a:bodyP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514350" indent="-514350" algn="just">
              <a:lnSpc>
                <a:spcPct val="150000"/>
              </a:lnSpc>
              <a:buFont typeface="+mj-lt"/>
              <a:buAutoNum type="romanLcPeriod"/>
            </a:pPr>
            <a:r>
              <a:rPr lang="en-US" sz="2000" dirty="0">
                <a:latin typeface="Times New Roman" panose="02020603050405020304" pitchFamily="18" charset="0"/>
                <a:cs typeface="Times New Roman" panose="02020603050405020304" pitchFamily="18" charset="0"/>
              </a:rPr>
              <a:t>Diabetes is one of the most common diseases, affecting over 422 million people and leading to serious health issues.</a:t>
            </a:r>
          </a:p>
          <a:p>
            <a:pPr marL="514350" indent="-514350" algn="just">
              <a:lnSpc>
                <a:spcPct val="150000"/>
              </a:lnSpc>
              <a:buFont typeface="+mj-lt"/>
              <a:buAutoNum type="romanLcPeriod"/>
            </a:pPr>
            <a:r>
              <a:rPr lang="en-US" sz="2000" dirty="0">
                <a:latin typeface="Times New Roman" panose="02020603050405020304" pitchFamily="18" charset="0"/>
                <a:cs typeface="Times New Roman" panose="02020603050405020304" pitchFamily="18" charset="0"/>
              </a:rPr>
              <a:t>Machine learning can predict diabetes, but traditional methods struggle to find key contributing factors.</a:t>
            </a:r>
          </a:p>
          <a:p>
            <a:pPr marL="514350" indent="-514350" algn="just">
              <a:lnSpc>
                <a:spcPct val="150000"/>
              </a:lnSpc>
              <a:buFont typeface="+mj-lt"/>
              <a:buAutoNum type="romanLcPeriod"/>
            </a:pPr>
            <a:r>
              <a:rPr lang="en-US" sz="2000" dirty="0">
                <a:latin typeface="Times New Roman" panose="02020603050405020304" pitchFamily="18" charset="0"/>
                <a:cs typeface="Times New Roman" panose="02020603050405020304" pitchFamily="18" charset="0"/>
              </a:rPr>
              <a:t>Previous models did not identify important factors; they focused mainly on making predictions.</a:t>
            </a:r>
          </a:p>
          <a:p>
            <a:pPr marL="514350" indent="-514350" algn="just">
              <a:lnSpc>
                <a:spcPct val="150000"/>
              </a:lnSpc>
              <a:buFont typeface="+mj-lt"/>
              <a:buAutoNum type="romanLcPeriod"/>
            </a:pPr>
            <a:r>
              <a:rPr lang="en-US" sz="2000" dirty="0">
                <a:latin typeface="Times New Roman" panose="02020603050405020304" pitchFamily="18" charset="0"/>
                <a:cs typeface="Times New Roman" panose="02020603050405020304" pitchFamily="18" charset="0"/>
              </a:rPr>
              <a:t>The study aims to create an Explainable Random Forest (XRF) model to improve predictions by clarifying results that earlier models could not explain.</a:t>
            </a:r>
          </a:p>
          <a:p>
            <a:pPr marL="514350" indent="-514350" algn="just">
              <a:lnSpc>
                <a:spcPct val="150000"/>
              </a:lnSpc>
              <a:buFont typeface="+mj-lt"/>
              <a:buAutoNum type="romanLcPeriod"/>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1824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le 12"/>
          <p:cNvGraphicFramePr>
            <a:graphicFrameLocks noGrp="1"/>
          </p:cNvGraphicFramePr>
          <p:nvPr>
            <p:extLst>
              <p:ext uri="{D42A27DB-BD31-4B8C-83A1-F6EECF244321}">
                <p14:modId xmlns:p14="http://schemas.microsoft.com/office/powerpoint/2010/main" val="422360914"/>
              </p:ext>
            </p:extLst>
          </p:nvPr>
        </p:nvGraphicFramePr>
        <p:xfrm>
          <a:off x="1077046" y="1312302"/>
          <a:ext cx="10294265" cy="5194677"/>
        </p:xfrm>
        <a:graphic>
          <a:graphicData uri="http://schemas.openxmlformats.org/drawingml/2006/table">
            <a:tbl>
              <a:tblPr firstRow="1" bandRow="1">
                <a:tableStyleId>{5C22544A-7EE6-4342-B048-85BDC9FD1C3A}</a:tableStyleId>
              </a:tblPr>
              <a:tblGrid>
                <a:gridCol w="1600273">
                  <a:extLst>
                    <a:ext uri="{9D8B030D-6E8A-4147-A177-3AD203B41FA5}">
                      <a16:colId xmlns:a16="http://schemas.microsoft.com/office/drawing/2014/main" val="3896862052"/>
                    </a:ext>
                  </a:extLst>
                </a:gridCol>
                <a:gridCol w="8693992">
                  <a:extLst>
                    <a:ext uri="{9D8B030D-6E8A-4147-A177-3AD203B41FA5}">
                      <a16:colId xmlns:a16="http://schemas.microsoft.com/office/drawing/2014/main" val="1796380576"/>
                    </a:ext>
                  </a:extLst>
                </a:gridCol>
              </a:tblGrid>
              <a:tr h="666568">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Times New Roman" panose="02020603050405020304" pitchFamily="18" charset="0"/>
                          <a:cs typeface="Times New Roman" panose="02020603050405020304" pitchFamily="18" charset="0"/>
                        </a:rPr>
                        <a:t>Title</a:t>
                      </a:r>
                    </a:p>
                    <a:p>
                      <a:pPr algn="just"/>
                      <a:endParaRPr lang="en-US" sz="1800" dirty="0">
                        <a:latin typeface="Times New Roman" panose="02020603050405020304" pitchFamily="18" charset="0"/>
                        <a:cs typeface="Times New Roman" panose="02020603050405020304" pitchFamily="18" charset="0"/>
                      </a:endParaRPr>
                    </a:p>
                  </a:txBody>
                  <a:tcPr/>
                </a:tc>
                <a:tc>
                  <a:txBody>
                    <a:bodyPr/>
                    <a:lstStyle/>
                    <a:p>
                      <a:pPr algn="just"/>
                      <a:r>
                        <a:rPr lang="en-US" sz="1800" dirty="0">
                          <a:solidFill>
                            <a:schemeClr val="tx1"/>
                          </a:solidFill>
                          <a:latin typeface="Times New Roman" panose="02020603050405020304" pitchFamily="18" charset="0"/>
                          <a:cs typeface="Times New Roman" panose="02020603050405020304" pitchFamily="18" charset="0"/>
                        </a:rPr>
                        <a:t>“Early detection of type 2 diabetes mellitus using machine learning based prediction models”</a:t>
                      </a:r>
                    </a:p>
                  </a:txBody>
                  <a:tcPr/>
                </a:tc>
                <a:extLst>
                  <a:ext uri="{0D108BD9-81ED-4DB2-BD59-A6C34878D82A}">
                    <a16:rowId xmlns:a16="http://schemas.microsoft.com/office/drawing/2014/main" val="368998015"/>
                  </a:ext>
                </a:extLst>
              </a:tr>
              <a:tr h="485702">
                <a:tc>
                  <a:txBody>
                    <a:bodyPr/>
                    <a:lstStyle/>
                    <a:p>
                      <a:pPr algn="just"/>
                      <a:r>
                        <a:rPr lang="en-US" sz="1800" dirty="0">
                          <a:latin typeface="Times New Roman" panose="02020603050405020304" pitchFamily="18" charset="0"/>
                          <a:cs typeface="Times New Roman" panose="02020603050405020304" pitchFamily="18" charset="0"/>
                        </a:rPr>
                        <a:t>Authors</a:t>
                      </a:r>
                    </a:p>
                  </a:txBody>
                  <a:tcPr/>
                </a:tc>
                <a:tc>
                  <a:txBody>
                    <a:bodyPr/>
                    <a:lstStyle/>
                    <a:p>
                      <a:pPr algn="just"/>
                      <a:r>
                        <a:rPr lang="en-US" sz="1800" kern="1200" dirty="0">
                          <a:solidFill>
                            <a:schemeClr val="dk1"/>
                          </a:solidFill>
                          <a:effectLst/>
                          <a:latin typeface="Times New Roman" panose="02020603050405020304" pitchFamily="18" charset="0"/>
                          <a:ea typeface="+mn-ea"/>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Leon Kopitar, </a:t>
                      </a:r>
                      <a:r>
                        <a:rPr lang="en-US" sz="1800" dirty="0" err="1">
                          <a:latin typeface="Times New Roman" panose="02020603050405020304" pitchFamily="18" charset="0"/>
                          <a:cs typeface="Times New Roman" panose="02020603050405020304" pitchFamily="18" charset="0"/>
                        </a:rPr>
                        <a:t>Primož</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Kočbek</a:t>
                      </a:r>
                      <a:r>
                        <a:rPr lang="en-US" sz="1800" dirty="0">
                          <a:latin typeface="Times New Roman" panose="02020603050405020304" pitchFamily="18" charset="0"/>
                          <a:cs typeface="Times New Roman" panose="02020603050405020304" pitchFamily="18" charset="0"/>
                        </a:rPr>
                        <a:t>, Leona </a:t>
                      </a:r>
                      <a:r>
                        <a:rPr lang="en-US" sz="1800" dirty="0" err="1">
                          <a:latin typeface="Times New Roman" panose="02020603050405020304" pitchFamily="18" charset="0"/>
                          <a:cs typeface="Times New Roman" panose="02020603050405020304" pitchFamily="18" charset="0"/>
                        </a:rPr>
                        <a:t>Čilar</a:t>
                      </a:r>
                      <a:r>
                        <a:rPr lang="en-US" sz="1800" dirty="0">
                          <a:latin typeface="Times New Roman" panose="02020603050405020304" pitchFamily="18" charset="0"/>
                          <a:cs typeface="Times New Roman" panose="02020603050405020304" pitchFamily="18" charset="0"/>
                        </a:rPr>
                        <a:t>, Aziz Sheikh, Gregor </a:t>
                      </a:r>
                      <a:r>
                        <a:rPr lang="en-US" sz="1800" dirty="0" err="1">
                          <a:latin typeface="Times New Roman" panose="02020603050405020304" pitchFamily="18" charset="0"/>
                          <a:cs typeface="Times New Roman" panose="02020603050405020304" pitchFamily="18" charset="0"/>
                        </a:rPr>
                        <a:t>Stiglic</a:t>
                      </a:r>
                      <a:r>
                        <a:rPr lang="en-US" sz="1800" dirty="0">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3400777901"/>
                  </a:ext>
                </a:extLst>
              </a:tr>
              <a:tr h="485702">
                <a:tc>
                  <a:txBody>
                    <a:bodyPr/>
                    <a:lstStyle/>
                    <a:p>
                      <a:pPr algn="just"/>
                      <a:r>
                        <a:rPr lang="en-US" sz="1800" dirty="0">
                          <a:latin typeface="Times New Roman" panose="02020603050405020304" pitchFamily="18" charset="0"/>
                          <a:cs typeface="Times New Roman" panose="02020603050405020304" pitchFamily="18" charset="0"/>
                        </a:rPr>
                        <a:t>Published</a:t>
                      </a:r>
                    </a:p>
                  </a:txBody>
                  <a:tcPr/>
                </a:tc>
                <a:tc>
                  <a:txBody>
                    <a:bodyPr/>
                    <a:lstStyle/>
                    <a:p>
                      <a:pPr algn="just"/>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20 July, 2020 at SCIENTIFIC REPORTS on report research.</a:t>
                      </a:r>
                      <a:endParaRPr lang="en-US"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08707857"/>
                  </a:ext>
                </a:extLst>
              </a:tr>
              <a:tr h="1391098">
                <a:tc>
                  <a:txBody>
                    <a:bodyPr/>
                    <a:lstStyle/>
                    <a:p>
                      <a:pPr algn="just"/>
                      <a:r>
                        <a:rPr lang="en-US" sz="1800" dirty="0">
                          <a:latin typeface="Times New Roman" panose="02020603050405020304" pitchFamily="18" charset="0"/>
                          <a:cs typeface="Times New Roman" panose="02020603050405020304" pitchFamily="18" charset="0"/>
                        </a:rPr>
                        <a:t>Methodology</a:t>
                      </a:r>
                    </a:p>
                  </a:txBody>
                  <a:tcPr/>
                </a:tc>
                <a:tc>
                  <a:txBody>
                    <a:bodyPr/>
                    <a:lstStyle/>
                    <a:p>
                      <a:pPr algn="just"/>
                      <a:r>
                        <a:rPr lang="en-US" sz="1800" dirty="0">
                          <a:latin typeface="Times New Roman" panose="02020603050405020304" pitchFamily="18" charset="0"/>
                          <a:cs typeface="Times New Roman" panose="02020603050405020304" pitchFamily="18" charset="0"/>
                        </a:rPr>
                        <a:t>The dataset included electronic health records of 27,050 adults without a previous diagnosis of Type 2 Diabetes Mellitus (T2DM), collected from December 2014 to September 2017. The study compared </a:t>
                      </a:r>
                      <a:r>
                        <a:rPr lang="en-US" sz="1800" dirty="0" err="1">
                          <a:latin typeface="Times New Roman" panose="02020603050405020304" pitchFamily="18" charset="0"/>
                          <a:cs typeface="Times New Roman" panose="02020603050405020304" pitchFamily="18" charset="0"/>
                        </a:rPr>
                        <a:t>Glmnet</a:t>
                      </a:r>
                      <a:r>
                        <a:rPr lang="en-US" sz="1800" dirty="0">
                          <a:latin typeface="Times New Roman" panose="02020603050405020304" pitchFamily="18" charset="0"/>
                          <a:cs typeface="Times New Roman" panose="02020603050405020304" pitchFamily="18" charset="0"/>
                        </a:rPr>
                        <a:t> and Random Forest (RF) machine learning algorithms to traditional regression models for predicting fasting plasma glucose levels.</a:t>
                      </a:r>
                    </a:p>
                  </a:txBody>
                  <a:tcPr/>
                </a:tc>
                <a:extLst>
                  <a:ext uri="{0D108BD9-81ED-4DB2-BD59-A6C34878D82A}">
                    <a16:rowId xmlns:a16="http://schemas.microsoft.com/office/drawing/2014/main" val="911424972"/>
                  </a:ext>
                </a:extLst>
              </a:tr>
              <a:tr h="1104920">
                <a:tc>
                  <a:txBody>
                    <a:bodyPr/>
                    <a:lstStyle/>
                    <a:p>
                      <a:pPr algn="just"/>
                      <a:r>
                        <a:rPr lang="en-US" sz="1800" dirty="0">
                          <a:latin typeface="Times New Roman" panose="02020603050405020304" pitchFamily="18" charset="0"/>
                          <a:cs typeface="Times New Roman" panose="02020603050405020304" pitchFamily="18" charset="0"/>
                        </a:rPr>
                        <a:t>Analysis</a:t>
                      </a:r>
                    </a:p>
                  </a:txBody>
                  <a:tcPr/>
                </a:tc>
                <a:tc>
                  <a:txBody>
                    <a:bodyPr/>
                    <a:lstStyle/>
                    <a:p>
                      <a:pPr algn="just"/>
                      <a:r>
                        <a:rPr lang="en-US" sz="1800" dirty="0">
                          <a:latin typeface="Times New Roman" panose="02020603050405020304" pitchFamily="18" charset="0"/>
                          <a:cs typeface="Times New Roman" panose="02020603050405020304" pitchFamily="18" charset="0"/>
                        </a:rPr>
                        <a:t>The performance of the machine learning models was assessed using root mean square error (RME) for accuracy, while stability in variable selection was evaluated to determine the robustness of each model with complex datasets.</a:t>
                      </a:r>
                    </a:p>
                  </a:txBody>
                  <a:tcPr/>
                </a:tc>
                <a:extLst>
                  <a:ext uri="{0D108BD9-81ED-4DB2-BD59-A6C34878D82A}">
                    <a16:rowId xmlns:a16="http://schemas.microsoft.com/office/drawing/2014/main" val="3758652141"/>
                  </a:ext>
                </a:extLst>
              </a:tr>
              <a:tr h="1060687">
                <a:tc>
                  <a:txBody>
                    <a:bodyPr/>
                    <a:lstStyle/>
                    <a:p>
                      <a:pPr algn="just"/>
                      <a:r>
                        <a:rPr lang="en-US" sz="1800" dirty="0">
                          <a:latin typeface="Times New Roman" panose="02020603050405020304" pitchFamily="18" charset="0"/>
                          <a:cs typeface="Times New Roman" panose="02020603050405020304" pitchFamily="18" charset="0"/>
                        </a:rPr>
                        <a:t>Result</a:t>
                      </a:r>
                    </a:p>
                  </a:txBody>
                  <a:tcPr/>
                </a:tc>
                <a:tc>
                  <a:txBody>
                    <a:bodyPr/>
                    <a:lstStyle/>
                    <a:p>
                      <a:pPr algn="just"/>
                      <a:r>
                        <a:rPr lang="en-US" sz="1800" dirty="0">
                          <a:latin typeface="Times New Roman" panose="02020603050405020304" pitchFamily="18" charset="0"/>
                          <a:cs typeface="Times New Roman" panose="02020603050405020304" pitchFamily="18" charset="0"/>
                        </a:rPr>
                        <a:t>Random Forest had a Root Mean Square Error  lower of 0.842 compared to </a:t>
                      </a:r>
                      <a:r>
                        <a:rPr lang="en-US" sz="1800" dirty="0" err="1">
                          <a:latin typeface="Times New Roman" panose="02020603050405020304" pitchFamily="18" charset="0"/>
                          <a:cs typeface="Times New Roman" panose="02020603050405020304" pitchFamily="18" charset="0"/>
                        </a:rPr>
                        <a:t>Glmnet's</a:t>
                      </a:r>
                      <a:r>
                        <a:rPr lang="en-US" sz="1800" dirty="0">
                          <a:latin typeface="Times New Roman" panose="02020603050405020304" pitchFamily="18" charset="0"/>
                          <a:cs typeface="Times New Roman" panose="02020603050405020304" pitchFamily="18" charset="0"/>
                        </a:rPr>
                        <a:t> 0.859 and showed greater stability in variable selection. </a:t>
                      </a:r>
                    </a:p>
                  </a:txBody>
                  <a:tcPr/>
                </a:tc>
                <a:extLst>
                  <a:ext uri="{0D108BD9-81ED-4DB2-BD59-A6C34878D82A}">
                    <a16:rowId xmlns:a16="http://schemas.microsoft.com/office/drawing/2014/main" val="2253859244"/>
                  </a:ext>
                </a:extLst>
              </a:tr>
            </a:tbl>
          </a:graphicData>
        </a:graphic>
      </p:graphicFrame>
      <p:sp>
        <p:nvSpPr>
          <p:cNvPr id="2" name="Slide Number Placeholder 1">
            <a:extLst>
              <a:ext uri="{FF2B5EF4-FFF2-40B4-BE49-F238E27FC236}">
                <a16:creationId xmlns:a16="http://schemas.microsoft.com/office/drawing/2014/main" id="{0F3B60F2-D510-88CE-5227-D563E84E4EA1}"/>
              </a:ext>
            </a:extLst>
          </p:cNvPr>
          <p:cNvSpPr>
            <a:spLocks noGrp="1"/>
          </p:cNvSpPr>
          <p:nvPr>
            <p:ph type="sldNum" sz="quarter" idx="12"/>
          </p:nvPr>
        </p:nvSpPr>
        <p:spPr>
          <a:xfrm>
            <a:off x="11371311" y="6419018"/>
            <a:ext cx="683339" cy="365125"/>
          </a:xfrm>
        </p:spPr>
        <p:txBody>
          <a:bodyPr/>
          <a:lstStyle/>
          <a:p>
            <a:fld id="{DCDA61CE-80EA-4586-AB04-B95879AC9DE7}" type="slidenum">
              <a:rPr lang="en-US" sz="1800" b="1" smtClean="0">
                <a:solidFill>
                  <a:schemeClr val="tx1"/>
                </a:solidFill>
              </a:rPr>
              <a:t>7</a:t>
            </a:fld>
            <a:endParaRPr lang="en-US" sz="1800" b="1" dirty="0">
              <a:solidFill>
                <a:schemeClr val="tx1"/>
              </a:solidFill>
            </a:endParaRPr>
          </a:p>
        </p:txBody>
      </p:sp>
      <p:sp>
        <p:nvSpPr>
          <p:cNvPr id="5" name="Rectangle 4"/>
          <p:cNvSpPr/>
          <p:nvPr/>
        </p:nvSpPr>
        <p:spPr>
          <a:xfrm>
            <a:off x="2499919" y="256796"/>
            <a:ext cx="6180743" cy="6659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latin typeface="Times New Roman" panose="02020603050405020304" pitchFamily="18" charset="0"/>
                <a:cs typeface="Times New Roman" panose="02020603050405020304" pitchFamily="18" charset="0"/>
              </a:rPr>
              <a:t>LITERATURE REVIEW-1 </a:t>
            </a:r>
          </a:p>
        </p:txBody>
      </p:sp>
      <p:sp>
        <p:nvSpPr>
          <p:cNvPr id="10" name="Rectangle 9"/>
          <p:cNvSpPr/>
          <p:nvPr/>
        </p:nvSpPr>
        <p:spPr>
          <a:xfrm>
            <a:off x="820689" y="881307"/>
            <a:ext cx="1401496" cy="43099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Paper -1</a:t>
            </a:r>
          </a:p>
        </p:txBody>
      </p:sp>
    </p:spTree>
    <p:extLst>
      <p:ext uri="{BB962C8B-B14F-4D97-AF65-F5344CB8AC3E}">
        <p14:creationId xmlns:p14="http://schemas.microsoft.com/office/powerpoint/2010/main" val="2747959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349270" y="6417374"/>
            <a:ext cx="683339" cy="365125"/>
          </a:xfrm>
        </p:spPr>
        <p:txBody>
          <a:bodyPr/>
          <a:lstStyle/>
          <a:p>
            <a:fld id="{DCDA61CE-80EA-4586-AB04-B95879AC9DE7}" type="slidenum">
              <a:rPr lang="en-US" sz="1800" b="1" smtClean="0">
                <a:solidFill>
                  <a:schemeClr val="tx1"/>
                </a:solidFill>
              </a:rPr>
              <a:t>8</a:t>
            </a:fld>
            <a:endParaRPr lang="en-US" sz="1800" b="1" dirty="0">
              <a:solidFill>
                <a:schemeClr val="tx1"/>
              </a:solidFill>
            </a:endParaRPr>
          </a:p>
        </p:txBody>
      </p:sp>
      <p:sp>
        <p:nvSpPr>
          <p:cNvPr id="5" name="Rectangle 4"/>
          <p:cNvSpPr/>
          <p:nvPr/>
        </p:nvSpPr>
        <p:spPr>
          <a:xfrm>
            <a:off x="2248348" y="256795"/>
            <a:ext cx="6497619" cy="6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latin typeface="Times New Roman" panose="02020603050405020304" pitchFamily="18" charset="0"/>
                <a:cs typeface="Times New Roman" panose="02020603050405020304" pitchFamily="18" charset="0"/>
              </a:rPr>
              <a:t>LITERATURE REVIEW-1 (Cond..)</a:t>
            </a:r>
          </a:p>
        </p:txBody>
      </p:sp>
      <p:sp>
        <p:nvSpPr>
          <p:cNvPr id="6" name="Content Placeholder 7"/>
          <p:cNvSpPr txBox="1">
            <a:spLocks/>
          </p:cNvSpPr>
          <p:nvPr/>
        </p:nvSpPr>
        <p:spPr>
          <a:xfrm>
            <a:off x="861478" y="1311719"/>
            <a:ext cx="8596668" cy="3880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Reliance on one dataset may limit the generalizability of the findings.</a:t>
            </a:r>
          </a:p>
          <a:p>
            <a:pPr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Emphasis on specific machine learning algorithms may overlook other potentially effective models.</a:t>
            </a:r>
          </a:p>
          <a:p>
            <a:pPr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The complexity of machine learning models can hinder their acceptance in clinical practice due to issues with interpretability.</a:t>
            </a:r>
          </a:p>
          <a:p>
            <a:pPr algn="just">
              <a:lnSpc>
                <a:spcPct val="150000"/>
              </a:lnSpc>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C75926F7-D271-3D14-4F5E-6C3BED69F59E}"/>
              </a:ext>
            </a:extLst>
          </p:cNvPr>
          <p:cNvSpPr/>
          <p:nvPr/>
        </p:nvSpPr>
        <p:spPr>
          <a:xfrm>
            <a:off x="931147" y="1215596"/>
            <a:ext cx="3541401" cy="4562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LIMITATIONS</a:t>
            </a:r>
          </a:p>
        </p:txBody>
      </p:sp>
    </p:spTree>
    <p:extLst>
      <p:ext uri="{BB962C8B-B14F-4D97-AF65-F5344CB8AC3E}">
        <p14:creationId xmlns:p14="http://schemas.microsoft.com/office/powerpoint/2010/main" val="653106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le 12"/>
          <p:cNvGraphicFramePr>
            <a:graphicFrameLocks noGrp="1"/>
          </p:cNvGraphicFramePr>
          <p:nvPr>
            <p:extLst>
              <p:ext uri="{D42A27DB-BD31-4B8C-83A1-F6EECF244321}">
                <p14:modId xmlns:p14="http://schemas.microsoft.com/office/powerpoint/2010/main" val="1390979245"/>
              </p:ext>
            </p:extLst>
          </p:nvPr>
        </p:nvGraphicFramePr>
        <p:xfrm>
          <a:off x="742093" y="1137259"/>
          <a:ext cx="10425515" cy="5281759"/>
        </p:xfrm>
        <a:graphic>
          <a:graphicData uri="http://schemas.openxmlformats.org/drawingml/2006/table">
            <a:tbl>
              <a:tblPr firstRow="1" bandRow="1">
                <a:tableStyleId>{5C22544A-7EE6-4342-B048-85BDC9FD1C3A}</a:tableStyleId>
              </a:tblPr>
              <a:tblGrid>
                <a:gridCol w="1471930">
                  <a:extLst>
                    <a:ext uri="{9D8B030D-6E8A-4147-A177-3AD203B41FA5}">
                      <a16:colId xmlns:a16="http://schemas.microsoft.com/office/drawing/2014/main" val="3896862052"/>
                    </a:ext>
                  </a:extLst>
                </a:gridCol>
                <a:gridCol w="8953585">
                  <a:extLst>
                    <a:ext uri="{9D8B030D-6E8A-4147-A177-3AD203B41FA5}">
                      <a16:colId xmlns:a16="http://schemas.microsoft.com/office/drawing/2014/main" val="1796380576"/>
                    </a:ext>
                  </a:extLst>
                </a:gridCol>
              </a:tblGrid>
              <a:tr h="654365">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Times New Roman" panose="02020603050405020304" pitchFamily="18" charset="0"/>
                          <a:cs typeface="Times New Roman" panose="02020603050405020304" pitchFamily="18" charset="0"/>
                        </a:rPr>
                        <a:t>Title</a:t>
                      </a:r>
                    </a:p>
                    <a:p>
                      <a:pPr algn="just"/>
                      <a:endParaRPr lang="en-US" sz="18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Times New Roman" panose="02020603050405020304" pitchFamily="18" charset="0"/>
                          <a:cs typeface="Times New Roman" panose="02020603050405020304" pitchFamily="18" charset="0"/>
                        </a:rPr>
                        <a:t>“Comparative analysis in the prediction of early-stage diabetes using multiple machine learning techniques”</a:t>
                      </a:r>
                      <a:endParaRPr lang="en-US" sz="1800" b="1"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8998015"/>
                  </a:ext>
                </a:extLst>
              </a:tr>
              <a:tr h="597463">
                <a:tc>
                  <a:txBody>
                    <a:bodyPr/>
                    <a:lstStyle/>
                    <a:p>
                      <a:pPr algn="just"/>
                      <a:r>
                        <a:rPr lang="en-US" sz="1800" dirty="0">
                          <a:latin typeface="Times New Roman" panose="02020603050405020304" pitchFamily="18" charset="0"/>
                          <a:cs typeface="Times New Roman" panose="02020603050405020304" pitchFamily="18" charset="0"/>
                        </a:rPr>
                        <a:t>Authors</a:t>
                      </a:r>
                    </a:p>
                  </a:txBody>
                  <a:tcPr/>
                </a:tc>
                <a:tc>
                  <a:txBody>
                    <a:bodyPr/>
                    <a:lstStyle/>
                    <a:p>
                      <a:pPr algn="just"/>
                      <a:r>
                        <a:rPr lang="en-US" sz="1800" dirty="0">
                          <a:latin typeface="Times New Roman" panose="02020603050405020304" pitchFamily="18" charset="0"/>
                          <a:cs typeface="Times New Roman" panose="02020603050405020304" pitchFamily="18" charset="0"/>
                        </a:rPr>
                        <a:t>Leonard Flores, Rowell Marquez, Lloyd </a:t>
                      </a:r>
                      <a:r>
                        <a:rPr lang="en-US" sz="1800" dirty="0" err="1">
                          <a:latin typeface="Times New Roman" panose="02020603050405020304" pitchFamily="18" charset="0"/>
                          <a:cs typeface="Times New Roman" panose="02020603050405020304" pitchFamily="18" charset="0"/>
                        </a:rPr>
                        <a:t>Macatangay</a:t>
                      </a:r>
                      <a:r>
                        <a:rPr lang="en-US" sz="1800" dirty="0">
                          <a:latin typeface="Times New Roman" panose="02020603050405020304" pitchFamily="18" charset="0"/>
                          <a:cs typeface="Times New Roman" panose="02020603050405020304" pitchFamily="18" charset="0"/>
                        </a:rPr>
                        <a:t>, Shiela Marie, </a:t>
                      </a:r>
                      <a:r>
                        <a:rPr lang="en-US" sz="1800" dirty="0" err="1">
                          <a:latin typeface="Times New Roman" panose="02020603050405020304" pitchFamily="18" charset="0"/>
                          <a:cs typeface="Times New Roman" panose="02020603050405020304" pitchFamily="18" charset="0"/>
                        </a:rPr>
                        <a:t>Jonnah</a:t>
                      </a:r>
                      <a:r>
                        <a:rPr lang="en-US" sz="1800" dirty="0">
                          <a:latin typeface="Times New Roman" panose="02020603050405020304" pitchFamily="18" charset="0"/>
                          <a:cs typeface="Times New Roman" panose="02020603050405020304" pitchFamily="18" charset="0"/>
                        </a:rPr>
                        <a:t> R. Melo.</a:t>
                      </a:r>
                    </a:p>
                  </a:txBody>
                  <a:tcPr/>
                </a:tc>
                <a:extLst>
                  <a:ext uri="{0D108BD9-81ED-4DB2-BD59-A6C34878D82A}">
                    <a16:rowId xmlns:a16="http://schemas.microsoft.com/office/drawing/2014/main" val="3400777901"/>
                  </a:ext>
                </a:extLst>
              </a:tr>
              <a:tr h="369858">
                <a:tc>
                  <a:txBody>
                    <a:bodyPr/>
                    <a:lstStyle/>
                    <a:p>
                      <a:pPr algn="just"/>
                      <a:r>
                        <a:rPr lang="en-US" sz="1800" dirty="0">
                          <a:latin typeface="Times New Roman" panose="02020603050405020304" pitchFamily="18" charset="0"/>
                          <a:cs typeface="Times New Roman" panose="02020603050405020304" pitchFamily="18" charset="0"/>
                        </a:rPr>
                        <a:t>Published</a:t>
                      </a:r>
                    </a:p>
                  </a:txBody>
                  <a:tcPr/>
                </a:tc>
                <a:tc>
                  <a:txBody>
                    <a:bodyPr/>
                    <a:lstStyle/>
                    <a:p>
                      <a:pPr algn="just"/>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31</a:t>
                      </a:r>
                      <a:r>
                        <a:rPr lang="en-US" sz="1800" b="0" i="0" kern="1200" baseline="30000" dirty="0">
                          <a:solidFill>
                            <a:schemeClr val="dk1"/>
                          </a:solidFill>
                          <a:effectLst/>
                          <a:latin typeface="Times New Roman" panose="02020603050405020304" pitchFamily="18" charset="0"/>
                          <a:ea typeface="+mn-ea"/>
                          <a:cs typeface="Times New Roman" panose="02020603050405020304" pitchFamily="18" charset="0"/>
                        </a:rPr>
                        <a:t>st</a:t>
                      </a:r>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 July ,2023 at </a:t>
                      </a:r>
                      <a:r>
                        <a:rPr lang="en-US" sz="1800" dirty="0">
                          <a:latin typeface="Times New Roman" panose="02020603050405020304" pitchFamily="18" charset="0"/>
                          <a:cs typeface="Times New Roman" panose="02020603050405020304" pitchFamily="18" charset="0"/>
                        </a:rPr>
                        <a:t>Indonesian Journal of Electrical Engineering and Computer Science</a:t>
                      </a:r>
                    </a:p>
                  </a:txBody>
                  <a:tcPr/>
                </a:tc>
                <a:extLst>
                  <a:ext uri="{0D108BD9-81ED-4DB2-BD59-A6C34878D82A}">
                    <a16:rowId xmlns:a16="http://schemas.microsoft.com/office/drawing/2014/main" val="2123280557"/>
                  </a:ext>
                </a:extLst>
              </a:tr>
              <a:tr h="1365630">
                <a:tc>
                  <a:txBody>
                    <a:bodyPr/>
                    <a:lstStyle/>
                    <a:p>
                      <a:pPr algn="just"/>
                      <a:r>
                        <a:rPr lang="en-US" sz="1800" dirty="0">
                          <a:latin typeface="Times New Roman" panose="02020603050405020304" pitchFamily="18" charset="0"/>
                          <a:cs typeface="Times New Roman" panose="02020603050405020304" pitchFamily="18" charset="0"/>
                        </a:rPr>
                        <a:t>Methodology</a:t>
                      </a:r>
                    </a:p>
                  </a:txBody>
                  <a:tcPr/>
                </a:tc>
                <a:tc>
                  <a:txBody>
                    <a:bodyPr/>
                    <a:lstStyle/>
                    <a:p>
                      <a:pPr algn="just"/>
                      <a:r>
                        <a:rPr lang="en-US" sz="1800" dirty="0">
                          <a:latin typeface="Times New Roman" panose="02020603050405020304" pitchFamily="18" charset="0"/>
                          <a:cs typeface="Times New Roman" panose="02020603050405020304" pitchFamily="18" charset="0"/>
                        </a:rPr>
                        <a:t>Data from 520 individuals with diabetes-related symptoms was collected at Sylhet Diabetes Hospital in Sylhet, Bangladesh. The study performed a comparative analysis of several machine learning techniques, including Random Forest, Support Vector Machines (SVM), Naïve Bayes, K-Nearest Neighbors (KNN), and Neural Networks.</a:t>
                      </a:r>
                    </a:p>
                  </a:txBody>
                  <a:tcPr/>
                </a:tc>
                <a:extLst>
                  <a:ext uri="{0D108BD9-81ED-4DB2-BD59-A6C34878D82A}">
                    <a16:rowId xmlns:a16="http://schemas.microsoft.com/office/drawing/2014/main" val="911424972"/>
                  </a:ext>
                </a:extLst>
              </a:tr>
              <a:tr h="1109575">
                <a:tc>
                  <a:txBody>
                    <a:bodyPr/>
                    <a:lstStyle/>
                    <a:p>
                      <a:pPr algn="just"/>
                      <a:r>
                        <a:rPr lang="en-US" sz="1800" dirty="0">
                          <a:latin typeface="Times New Roman" panose="02020603050405020304" pitchFamily="18" charset="0"/>
                          <a:cs typeface="Times New Roman" panose="02020603050405020304" pitchFamily="18" charset="0"/>
                        </a:rPr>
                        <a:t>Analysis</a:t>
                      </a:r>
                    </a:p>
                  </a:txBody>
                  <a:tcPr/>
                </a:tc>
                <a:tc>
                  <a:txBody>
                    <a:bodyPr/>
                    <a:lstStyle/>
                    <a:p>
                      <a:pPr algn="just"/>
                      <a:r>
                        <a:rPr lang="en-US" sz="1800" dirty="0">
                          <a:latin typeface="Times New Roman" panose="02020603050405020304" pitchFamily="18" charset="0"/>
                          <a:cs typeface="Times New Roman" panose="02020603050405020304" pitchFamily="18" charset="0"/>
                        </a:rPr>
                        <a:t>The study evaluated the effectiveness of each machine learning technique in diagnosing diabetes based on prediction accuracy. It emphasized the importance of feature selection and model evaluation metrics in enhancing prediction accuracy and improving the overall performance of the diagnostic models.</a:t>
                      </a:r>
                    </a:p>
                  </a:txBody>
                  <a:tcPr/>
                </a:tc>
                <a:extLst>
                  <a:ext uri="{0D108BD9-81ED-4DB2-BD59-A6C34878D82A}">
                    <a16:rowId xmlns:a16="http://schemas.microsoft.com/office/drawing/2014/main" val="3758652141"/>
                  </a:ext>
                </a:extLst>
              </a:tr>
              <a:tr h="1105723">
                <a:tc>
                  <a:txBody>
                    <a:bodyPr/>
                    <a:lstStyle/>
                    <a:p>
                      <a:pPr algn="just"/>
                      <a:r>
                        <a:rPr lang="en-US" sz="1800" dirty="0">
                          <a:latin typeface="Times New Roman" panose="02020603050405020304" pitchFamily="18" charset="0"/>
                          <a:cs typeface="Times New Roman" panose="02020603050405020304" pitchFamily="18" charset="0"/>
                        </a:rPr>
                        <a:t>Result</a:t>
                      </a:r>
                    </a:p>
                  </a:txBody>
                  <a:tcPr/>
                </a:tc>
                <a:tc>
                  <a:txBody>
                    <a:bodyPr/>
                    <a:lstStyle/>
                    <a:p>
                      <a:pPr algn="just"/>
                      <a:r>
                        <a:rPr lang="en-US" sz="1800" dirty="0">
                          <a:latin typeface="Times New Roman" panose="02020603050405020304" pitchFamily="18" charset="0"/>
                          <a:cs typeface="Times New Roman" panose="02020603050405020304" pitchFamily="18" charset="0"/>
                        </a:rPr>
                        <a:t>Random Forest achieved an accuracy of 98.49%, while Support Vector Machines reached 96.4%. K-Nearest Neighbors showed variable performance, with some instances hitting 100% accuracy, whereas Naïve Bayes had lower accuracy. </a:t>
                      </a:r>
                    </a:p>
                  </a:txBody>
                  <a:tcPr/>
                </a:tc>
                <a:extLst>
                  <a:ext uri="{0D108BD9-81ED-4DB2-BD59-A6C34878D82A}">
                    <a16:rowId xmlns:a16="http://schemas.microsoft.com/office/drawing/2014/main" val="2253859244"/>
                  </a:ext>
                </a:extLst>
              </a:tr>
            </a:tbl>
          </a:graphicData>
        </a:graphic>
      </p:graphicFrame>
      <p:sp>
        <p:nvSpPr>
          <p:cNvPr id="2" name="Slide Number Placeholder 1">
            <a:extLst>
              <a:ext uri="{FF2B5EF4-FFF2-40B4-BE49-F238E27FC236}">
                <a16:creationId xmlns:a16="http://schemas.microsoft.com/office/drawing/2014/main" id="{0F3B60F2-D510-88CE-5227-D563E84E4EA1}"/>
              </a:ext>
            </a:extLst>
          </p:cNvPr>
          <p:cNvSpPr>
            <a:spLocks noGrp="1"/>
          </p:cNvSpPr>
          <p:nvPr>
            <p:ph type="sldNum" sz="quarter" idx="12"/>
          </p:nvPr>
        </p:nvSpPr>
        <p:spPr>
          <a:xfrm>
            <a:off x="11371311" y="6419018"/>
            <a:ext cx="683339" cy="365125"/>
          </a:xfrm>
        </p:spPr>
        <p:txBody>
          <a:bodyPr/>
          <a:lstStyle/>
          <a:p>
            <a:fld id="{DCDA61CE-80EA-4586-AB04-B95879AC9DE7}" type="slidenum">
              <a:rPr lang="en-US" sz="1800" b="1" smtClean="0">
                <a:solidFill>
                  <a:schemeClr val="tx1"/>
                </a:solidFill>
              </a:rPr>
              <a:t>9</a:t>
            </a:fld>
            <a:endParaRPr lang="en-US" sz="1800" b="1" dirty="0">
              <a:solidFill>
                <a:schemeClr val="tx1"/>
              </a:solidFill>
            </a:endParaRPr>
          </a:p>
        </p:txBody>
      </p:sp>
      <p:sp>
        <p:nvSpPr>
          <p:cNvPr id="5" name="Rectangle 4"/>
          <p:cNvSpPr/>
          <p:nvPr/>
        </p:nvSpPr>
        <p:spPr>
          <a:xfrm>
            <a:off x="2459421" y="190665"/>
            <a:ext cx="6180743" cy="6901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latin typeface="Times New Roman" panose="02020603050405020304" pitchFamily="18" charset="0"/>
                <a:cs typeface="Times New Roman" panose="02020603050405020304" pitchFamily="18" charset="0"/>
              </a:rPr>
              <a:t>LITERATURE REVIEW-2</a:t>
            </a:r>
          </a:p>
        </p:txBody>
      </p:sp>
      <p:sp>
        <p:nvSpPr>
          <p:cNvPr id="10" name="Rectangle 9"/>
          <p:cNvSpPr/>
          <p:nvPr/>
        </p:nvSpPr>
        <p:spPr>
          <a:xfrm>
            <a:off x="538893" y="706264"/>
            <a:ext cx="1536650" cy="43099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Paper -10</a:t>
            </a:r>
          </a:p>
        </p:txBody>
      </p:sp>
    </p:spTree>
    <p:extLst>
      <p:ext uri="{BB962C8B-B14F-4D97-AF65-F5344CB8AC3E}">
        <p14:creationId xmlns:p14="http://schemas.microsoft.com/office/powerpoint/2010/main" val="3890351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508661" y="6492875"/>
            <a:ext cx="683339" cy="365125"/>
          </a:xfrm>
        </p:spPr>
        <p:txBody>
          <a:bodyPr/>
          <a:lstStyle/>
          <a:p>
            <a:fld id="{DCDA61CE-80EA-4586-AB04-B95879AC9DE7}" type="slidenum">
              <a:rPr lang="en-US" sz="1800" b="1" smtClean="0">
                <a:solidFill>
                  <a:schemeClr val="tx1"/>
                </a:solidFill>
              </a:rPr>
              <a:t>10</a:t>
            </a:fld>
            <a:endParaRPr lang="en-US" sz="1800" b="1" dirty="0">
              <a:solidFill>
                <a:schemeClr val="tx1"/>
              </a:solidFill>
            </a:endParaRPr>
          </a:p>
        </p:txBody>
      </p:sp>
      <p:sp>
        <p:nvSpPr>
          <p:cNvPr id="5" name="Rectangle 4"/>
          <p:cNvSpPr/>
          <p:nvPr/>
        </p:nvSpPr>
        <p:spPr>
          <a:xfrm>
            <a:off x="2168435" y="256795"/>
            <a:ext cx="6512228" cy="6576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latin typeface="Times New Roman" panose="02020603050405020304" pitchFamily="18" charset="0"/>
                <a:cs typeface="Times New Roman" panose="02020603050405020304" pitchFamily="18" charset="0"/>
              </a:rPr>
              <a:t>LITERATURE REVIEW-2 (Cond..)</a:t>
            </a:r>
          </a:p>
        </p:txBody>
      </p:sp>
      <p:sp>
        <p:nvSpPr>
          <p:cNvPr id="6" name="Content Placeholder 7"/>
          <p:cNvSpPr txBox="1">
            <a:spLocks/>
          </p:cNvSpPr>
          <p:nvPr/>
        </p:nvSpPr>
        <p:spPr>
          <a:xfrm>
            <a:off x="1065255" y="1377345"/>
            <a:ext cx="8596668" cy="3880773"/>
          </a:xfrm>
          <a:prstGeom prst="rect">
            <a:avLst/>
          </a:prstGeom>
        </p:spPr>
        <p:txBody>
          <a:bodyPr vert="horz" lIns="91440" tIns="45720" rIns="91440" bIns="45720" rtlCol="0">
            <a:normAutofit fontScale="925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Reliance on data from a single hospital limits generalizability.</a:t>
            </a:r>
          </a:p>
          <a:p>
            <a:pPr algn="just">
              <a:lnSpc>
                <a:spcPct val="150000"/>
              </a:lnSpc>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Sample size may not fully represent diverse characteristics of individuals with diabetes.</a:t>
            </a:r>
          </a:p>
          <a:p>
            <a:pPr algn="just">
              <a:lnSpc>
                <a:spcPct val="150000"/>
              </a:lnSpc>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Focus on specific machine learning algorithms may overlook other effective methods.</a:t>
            </a:r>
          </a:p>
          <a:p>
            <a:pPr algn="just">
              <a:lnSpc>
                <a:spcPct val="150000"/>
              </a:lnSpc>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External factors influencing diagnosis were not considered.</a:t>
            </a:r>
          </a:p>
          <a:p>
            <a:pPr algn="just">
              <a:lnSpc>
                <a:spcPct val="150000"/>
              </a:lnSpc>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Potential biases in the dataset could affect the robustness of conclusions.</a:t>
            </a:r>
          </a:p>
        </p:txBody>
      </p:sp>
      <p:sp>
        <p:nvSpPr>
          <p:cNvPr id="3" name="Rectangle 2">
            <a:extLst>
              <a:ext uri="{FF2B5EF4-FFF2-40B4-BE49-F238E27FC236}">
                <a16:creationId xmlns:a16="http://schemas.microsoft.com/office/drawing/2014/main" id="{4D836C33-E7F4-6381-2354-B4540E0942E6}"/>
              </a:ext>
            </a:extLst>
          </p:cNvPr>
          <p:cNvSpPr/>
          <p:nvPr/>
        </p:nvSpPr>
        <p:spPr>
          <a:xfrm>
            <a:off x="1187353" y="1149203"/>
            <a:ext cx="3541401" cy="4562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LIMITATIONS</a:t>
            </a:r>
          </a:p>
        </p:txBody>
      </p:sp>
    </p:spTree>
    <p:extLst>
      <p:ext uri="{BB962C8B-B14F-4D97-AF65-F5344CB8AC3E}">
        <p14:creationId xmlns:p14="http://schemas.microsoft.com/office/powerpoint/2010/main" val="34605316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le 12"/>
          <p:cNvGraphicFramePr>
            <a:graphicFrameLocks noGrp="1"/>
          </p:cNvGraphicFramePr>
          <p:nvPr>
            <p:extLst>
              <p:ext uri="{D42A27DB-BD31-4B8C-83A1-F6EECF244321}">
                <p14:modId xmlns:p14="http://schemas.microsoft.com/office/powerpoint/2010/main" val="2513914706"/>
              </p:ext>
            </p:extLst>
          </p:nvPr>
        </p:nvGraphicFramePr>
        <p:xfrm>
          <a:off x="742854" y="1414362"/>
          <a:ext cx="10449881" cy="5004656"/>
        </p:xfrm>
        <a:graphic>
          <a:graphicData uri="http://schemas.openxmlformats.org/drawingml/2006/table">
            <a:tbl>
              <a:tblPr firstRow="1" bandRow="1">
                <a:tableStyleId>{5C22544A-7EE6-4342-B048-85BDC9FD1C3A}</a:tableStyleId>
              </a:tblPr>
              <a:tblGrid>
                <a:gridCol w="1641441">
                  <a:extLst>
                    <a:ext uri="{9D8B030D-6E8A-4147-A177-3AD203B41FA5}">
                      <a16:colId xmlns:a16="http://schemas.microsoft.com/office/drawing/2014/main" val="3896862052"/>
                    </a:ext>
                  </a:extLst>
                </a:gridCol>
                <a:gridCol w="8808440">
                  <a:extLst>
                    <a:ext uri="{9D8B030D-6E8A-4147-A177-3AD203B41FA5}">
                      <a16:colId xmlns:a16="http://schemas.microsoft.com/office/drawing/2014/main" val="1796380576"/>
                    </a:ext>
                  </a:extLst>
                </a:gridCol>
              </a:tblGrid>
              <a:tr h="621194">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Times New Roman" panose="02020603050405020304" pitchFamily="18" charset="0"/>
                          <a:cs typeface="Times New Roman" panose="02020603050405020304" pitchFamily="18" charset="0"/>
                        </a:rPr>
                        <a:t>Title</a:t>
                      </a:r>
                    </a:p>
                    <a:p>
                      <a:pPr algn="just"/>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Times New Roman" panose="02020603050405020304" pitchFamily="18" charset="0"/>
                          <a:cs typeface="Times New Roman" panose="02020603050405020304" pitchFamily="18" charset="0"/>
                        </a:rPr>
                        <a:t>“An Ensemble Approach to Predict Early-Stage Diabetes Risk Using Machine Learning: An Empirical Study”</a:t>
                      </a:r>
                      <a:endParaRPr lang="en-US" sz="1800" b="1"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8998015"/>
                  </a:ext>
                </a:extLst>
              </a:tr>
              <a:tr h="424191">
                <a:tc>
                  <a:txBody>
                    <a:bodyPr/>
                    <a:lstStyle/>
                    <a:p>
                      <a:pPr algn="just"/>
                      <a:r>
                        <a:rPr lang="en-US" sz="1800" dirty="0">
                          <a:solidFill>
                            <a:schemeClr val="tx1"/>
                          </a:solidFill>
                          <a:latin typeface="Times New Roman" panose="02020603050405020304" pitchFamily="18" charset="0"/>
                          <a:cs typeface="Times New Roman" panose="02020603050405020304" pitchFamily="18" charset="0"/>
                        </a:rPr>
                        <a:t>Authors</a:t>
                      </a:r>
                    </a:p>
                  </a:txBody>
                  <a:tcPr/>
                </a:tc>
                <a:tc>
                  <a:txBody>
                    <a:bodyPr/>
                    <a:lstStyle/>
                    <a:p>
                      <a:pPr algn="just"/>
                      <a:r>
                        <a:rPr lang="en-US" sz="1800" dirty="0" err="1">
                          <a:solidFill>
                            <a:schemeClr val="tx1"/>
                          </a:solidFill>
                          <a:latin typeface="Times New Roman" panose="02020603050405020304" pitchFamily="18" charset="0"/>
                          <a:cs typeface="Times New Roman" panose="02020603050405020304" pitchFamily="18" charset="0"/>
                        </a:rPr>
                        <a:t>Umme</a:t>
                      </a:r>
                      <a:r>
                        <a:rPr lang="en-US" sz="1800" dirty="0">
                          <a:solidFill>
                            <a:schemeClr val="tx1"/>
                          </a:solidFill>
                          <a:latin typeface="Times New Roman" panose="02020603050405020304" pitchFamily="18" charset="0"/>
                          <a:cs typeface="Times New Roman" panose="02020603050405020304" pitchFamily="18" charset="0"/>
                        </a:rPr>
                        <a:t> Laila, Khalid Mahboob, Abdul Wahid Khan, Faheem Khan.</a:t>
                      </a:r>
                    </a:p>
                  </a:txBody>
                  <a:tcPr/>
                </a:tc>
                <a:extLst>
                  <a:ext uri="{0D108BD9-81ED-4DB2-BD59-A6C34878D82A}">
                    <a16:rowId xmlns:a16="http://schemas.microsoft.com/office/drawing/2014/main" val="3400777901"/>
                  </a:ext>
                </a:extLst>
              </a:tr>
              <a:tr h="567177">
                <a:tc>
                  <a:txBody>
                    <a:bodyPr/>
                    <a:lstStyle/>
                    <a:p>
                      <a:pPr algn="just"/>
                      <a:r>
                        <a:rPr lang="en-US" sz="1800" dirty="0">
                          <a:solidFill>
                            <a:schemeClr val="tx1"/>
                          </a:solidFill>
                          <a:latin typeface="Times New Roman" panose="02020603050405020304" pitchFamily="18" charset="0"/>
                          <a:cs typeface="Times New Roman" panose="02020603050405020304" pitchFamily="18" charset="0"/>
                        </a:rPr>
                        <a:t>Published</a:t>
                      </a:r>
                    </a:p>
                  </a:txBody>
                  <a:tcPr/>
                </a:tc>
                <a:tc>
                  <a:txBody>
                    <a:bodyPr/>
                    <a:lstStyle/>
                    <a:p>
                      <a:pPr algn="just"/>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13 July, 2022 At Sensors on MDPI</a:t>
                      </a:r>
                      <a:endParaRPr lang="en-US" sz="18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76701596"/>
                  </a:ext>
                </a:extLst>
              </a:tr>
              <a:tr h="1158167">
                <a:tc>
                  <a:txBody>
                    <a:bodyPr/>
                    <a:lstStyle/>
                    <a:p>
                      <a:pPr algn="just"/>
                      <a:r>
                        <a:rPr lang="en-US" sz="1800" dirty="0">
                          <a:solidFill>
                            <a:schemeClr val="tx1"/>
                          </a:solidFill>
                          <a:latin typeface="Times New Roman" panose="02020603050405020304" pitchFamily="18" charset="0"/>
                          <a:cs typeface="Times New Roman" panose="02020603050405020304" pitchFamily="18" charset="0"/>
                        </a:rPr>
                        <a:t>Methodology</a:t>
                      </a:r>
                    </a:p>
                  </a:txBody>
                  <a:tcPr/>
                </a:tc>
                <a:tc>
                  <a:txBody>
                    <a:bodyPr/>
                    <a:lstStyle/>
                    <a:p>
                      <a:pPr algn="just"/>
                      <a:r>
                        <a:rPr lang="en-US" sz="1800" dirty="0">
                          <a:solidFill>
                            <a:schemeClr val="tx1"/>
                          </a:solidFill>
                          <a:latin typeface="Times New Roman" panose="02020603050405020304" pitchFamily="18" charset="0"/>
                          <a:cs typeface="Times New Roman" panose="02020603050405020304" pitchFamily="18" charset="0"/>
                        </a:rPr>
                        <a:t>The study utilized ensemble learning methods, specifically AdaBoost, Bagging, and Random Forest, to assess early diabetes risk using the Early-Stage Diabetes Risk Prediction Dataset from the UCI machine learning repository.</a:t>
                      </a:r>
                    </a:p>
                  </a:txBody>
                  <a:tcPr/>
                </a:tc>
                <a:extLst>
                  <a:ext uri="{0D108BD9-81ED-4DB2-BD59-A6C34878D82A}">
                    <a16:rowId xmlns:a16="http://schemas.microsoft.com/office/drawing/2014/main" val="911424972"/>
                  </a:ext>
                </a:extLst>
              </a:tr>
              <a:tr h="1026321">
                <a:tc>
                  <a:txBody>
                    <a:bodyPr/>
                    <a:lstStyle/>
                    <a:p>
                      <a:pPr algn="just"/>
                      <a:r>
                        <a:rPr lang="en-US" sz="1800" dirty="0">
                          <a:solidFill>
                            <a:schemeClr val="tx1"/>
                          </a:solidFill>
                          <a:latin typeface="Times New Roman" panose="02020603050405020304" pitchFamily="18" charset="0"/>
                          <a:cs typeface="Times New Roman" panose="02020603050405020304" pitchFamily="18" charset="0"/>
                        </a:rPr>
                        <a:t>Analysis</a:t>
                      </a:r>
                    </a:p>
                  </a:txBody>
                  <a:tcPr/>
                </a:tc>
                <a:tc>
                  <a:txBody>
                    <a:bodyPr/>
                    <a:lstStyle/>
                    <a:p>
                      <a:pPr algn="just"/>
                      <a:r>
                        <a:rPr lang="en-US" sz="1800" dirty="0">
                          <a:solidFill>
                            <a:schemeClr val="tx1"/>
                          </a:solidFill>
                          <a:latin typeface="Times New Roman" panose="02020603050405020304" pitchFamily="18" charset="0"/>
                          <a:cs typeface="Times New Roman" panose="02020603050405020304" pitchFamily="18" charset="0"/>
                        </a:rPr>
                        <a:t>A comparative analysis of the ensemble methods was conducted to evaluate their effectiveness in predicting diabetes risk, with a focus on feature selection and the identification of significant predictors.</a:t>
                      </a:r>
                    </a:p>
                  </a:txBody>
                  <a:tcPr/>
                </a:tc>
                <a:extLst>
                  <a:ext uri="{0D108BD9-81ED-4DB2-BD59-A6C34878D82A}">
                    <a16:rowId xmlns:a16="http://schemas.microsoft.com/office/drawing/2014/main" val="3758652141"/>
                  </a:ext>
                </a:extLst>
              </a:tr>
              <a:tr h="1026321">
                <a:tc>
                  <a:txBody>
                    <a:bodyPr/>
                    <a:lstStyle/>
                    <a:p>
                      <a:pPr algn="just"/>
                      <a:r>
                        <a:rPr lang="en-US" sz="1800" dirty="0">
                          <a:solidFill>
                            <a:schemeClr val="tx1"/>
                          </a:solidFill>
                          <a:latin typeface="Times New Roman" panose="02020603050405020304" pitchFamily="18" charset="0"/>
                          <a:cs typeface="Times New Roman" panose="02020603050405020304" pitchFamily="18" charset="0"/>
                        </a:rPr>
                        <a:t>Result</a:t>
                      </a:r>
                    </a:p>
                  </a:txBody>
                  <a:tcPr/>
                </a:tc>
                <a:tc>
                  <a:txBody>
                    <a:bodyPr/>
                    <a:lstStyle/>
                    <a:p>
                      <a:pPr algn="just"/>
                      <a:r>
                        <a:rPr lang="en-US" sz="1800" dirty="0">
                          <a:solidFill>
                            <a:schemeClr val="tx1"/>
                          </a:solidFill>
                          <a:latin typeface="Times New Roman" panose="02020603050405020304" pitchFamily="18" charset="0"/>
                          <a:cs typeface="Times New Roman" panose="02020603050405020304" pitchFamily="18" charset="0"/>
                        </a:rPr>
                        <a:t>Random Forest was the most effective technique, achieving 97% accuracy and identifying "Polyuria" as the key predictor of diabetes risk. The study emphasized the importance of early detection and recommended further research into advanced algorithms and enhanced data collection methods.</a:t>
                      </a:r>
                    </a:p>
                  </a:txBody>
                  <a:tcPr/>
                </a:tc>
                <a:extLst>
                  <a:ext uri="{0D108BD9-81ED-4DB2-BD59-A6C34878D82A}">
                    <a16:rowId xmlns:a16="http://schemas.microsoft.com/office/drawing/2014/main" val="2253859244"/>
                  </a:ext>
                </a:extLst>
              </a:tr>
            </a:tbl>
          </a:graphicData>
        </a:graphic>
      </p:graphicFrame>
      <p:sp>
        <p:nvSpPr>
          <p:cNvPr id="2" name="Slide Number Placeholder 1">
            <a:extLst>
              <a:ext uri="{FF2B5EF4-FFF2-40B4-BE49-F238E27FC236}">
                <a16:creationId xmlns:a16="http://schemas.microsoft.com/office/drawing/2014/main" id="{0F3B60F2-D510-88CE-5227-D563E84E4EA1}"/>
              </a:ext>
            </a:extLst>
          </p:cNvPr>
          <p:cNvSpPr>
            <a:spLocks noGrp="1"/>
          </p:cNvSpPr>
          <p:nvPr>
            <p:ph type="sldNum" sz="quarter" idx="12"/>
          </p:nvPr>
        </p:nvSpPr>
        <p:spPr>
          <a:xfrm>
            <a:off x="11396478" y="6419018"/>
            <a:ext cx="683339" cy="365125"/>
          </a:xfrm>
        </p:spPr>
        <p:txBody>
          <a:bodyPr/>
          <a:lstStyle/>
          <a:p>
            <a:fld id="{DCDA61CE-80EA-4586-AB04-B95879AC9DE7}" type="slidenum">
              <a:rPr lang="en-US" sz="1800" b="1" smtClean="0">
                <a:solidFill>
                  <a:schemeClr val="tx1"/>
                </a:solidFill>
              </a:rPr>
              <a:t>11</a:t>
            </a:fld>
            <a:endParaRPr lang="en-US" sz="1800" b="1" dirty="0">
              <a:solidFill>
                <a:schemeClr val="tx1"/>
              </a:solidFill>
            </a:endParaRPr>
          </a:p>
        </p:txBody>
      </p:sp>
      <p:sp>
        <p:nvSpPr>
          <p:cNvPr id="5" name="Rectangle 4"/>
          <p:cNvSpPr/>
          <p:nvPr/>
        </p:nvSpPr>
        <p:spPr>
          <a:xfrm>
            <a:off x="2491530" y="254620"/>
            <a:ext cx="6180743" cy="6513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latin typeface="Times New Roman" panose="02020603050405020304" pitchFamily="18" charset="0"/>
                <a:cs typeface="Times New Roman" panose="02020603050405020304" pitchFamily="18" charset="0"/>
              </a:rPr>
              <a:t>LITERATURE REVIEW-3</a:t>
            </a:r>
          </a:p>
        </p:txBody>
      </p:sp>
      <p:sp>
        <p:nvSpPr>
          <p:cNvPr id="10" name="Rectangle 9"/>
          <p:cNvSpPr/>
          <p:nvPr/>
        </p:nvSpPr>
        <p:spPr>
          <a:xfrm>
            <a:off x="554168" y="983367"/>
            <a:ext cx="1590732" cy="43099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Paper -13</a:t>
            </a:r>
          </a:p>
        </p:txBody>
      </p:sp>
    </p:spTree>
    <p:extLst>
      <p:ext uri="{BB962C8B-B14F-4D97-AF65-F5344CB8AC3E}">
        <p14:creationId xmlns:p14="http://schemas.microsoft.com/office/powerpoint/2010/main" val="5954615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417753" y="6492875"/>
            <a:ext cx="683339" cy="365125"/>
          </a:xfrm>
        </p:spPr>
        <p:txBody>
          <a:bodyPr/>
          <a:lstStyle/>
          <a:p>
            <a:fld id="{DCDA61CE-80EA-4586-AB04-B95879AC9DE7}" type="slidenum">
              <a:rPr lang="en-US" sz="1800" b="1" smtClean="0">
                <a:solidFill>
                  <a:schemeClr val="tx1"/>
                </a:solidFill>
              </a:rPr>
              <a:t>12</a:t>
            </a:fld>
            <a:endParaRPr lang="en-US" sz="1800" b="1" dirty="0">
              <a:solidFill>
                <a:schemeClr val="tx1"/>
              </a:solidFill>
            </a:endParaRPr>
          </a:p>
        </p:txBody>
      </p:sp>
      <p:sp>
        <p:nvSpPr>
          <p:cNvPr id="5" name="Rectangle 4"/>
          <p:cNvSpPr/>
          <p:nvPr/>
        </p:nvSpPr>
        <p:spPr>
          <a:xfrm>
            <a:off x="2205318" y="256795"/>
            <a:ext cx="6519133" cy="732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latin typeface="Times New Roman" panose="02020603050405020304" pitchFamily="18" charset="0"/>
                <a:cs typeface="Times New Roman" panose="02020603050405020304" pitchFamily="18" charset="0"/>
              </a:rPr>
              <a:t>LITERATURE REVIEW-3 (Cond..)</a:t>
            </a:r>
          </a:p>
        </p:txBody>
      </p:sp>
      <p:sp>
        <p:nvSpPr>
          <p:cNvPr id="6" name="Content Placeholder 7"/>
          <p:cNvSpPr txBox="1">
            <a:spLocks/>
          </p:cNvSpPr>
          <p:nvPr/>
        </p:nvSpPr>
        <p:spPr>
          <a:xfrm>
            <a:off x="965424" y="1400175"/>
            <a:ext cx="8596668" cy="3481129"/>
          </a:xfrm>
          <a:prstGeom prst="rect">
            <a:avLst/>
          </a:prstGeom>
        </p:spPr>
        <p:txBody>
          <a:bodyPr vert="horz" lIns="91440" tIns="45720" rIns="91440" bIns="45720" rtlCol="0">
            <a:normAutofit fontScale="92500"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Small sample size affects generalizability.</a:t>
            </a:r>
          </a:p>
          <a:p>
            <a:pPr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Possible inaccuracies and missing data impact data quality.</a:t>
            </a:r>
          </a:p>
          <a:p>
            <a:pPr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Incomplete exploration of predictors due to limited feature selection.</a:t>
            </a:r>
          </a:p>
          <a:p>
            <a:pPr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Complexity of models may reduce interpretability.</a:t>
            </a:r>
          </a:p>
          <a:p>
            <a:pPr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Broader testing in diverse populations is needed for validation.</a:t>
            </a:r>
          </a:p>
          <a:p>
            <a:pPr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Potential for models to overfit to training data.</a:t>
            </a:r>
          </a:p>
        </p:txBody>
      </p:sp>
      <p:sp>
        <p:nvSpPr>
          <p:cNvPr id="2" name="Rectangle 1">
            <a:extLst>
              <a:ext uri="{FF2B5EF4-FFF2-40B4-BE49-F238E27FC236}">
                <a16:creationId xmlns:a16="http://schemas.microsoft.com/office/drawing/2014/main" id="{FBF5D797-6B19-A594-EC76-331AAF004E52}"/>
              </a:ext>
            </a:extLst>
          </p:cNvPr>
          <p:cNvSpPr/>
          <p:nvPr/>
        </p:nvSpPr>
        <p:spPr>
          <a:xfrm>
            <a:off x="965424" y="1201037"/>
            <a:ext cx="3541401" cy="4562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LIMITATIONS</a:t>
            </a:r>
          </a:p>
        </p:txBody>
      </p:sp>
    </p:spTree>
    <p:extLst>
      <p:ext uri="{BB962C8B-B14F-4D97-AF65-F5344CB8AC3E}">
        <p14:creationId xmlns:p14="http://schemas.microsoft.com/office/powerpoint/2010/main" val="33010125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68274E46-C4B3-3E1D-E303-14636F01128A}"/>
              </a:ext>
            </a:extLst>
          </p:cNvPr>
          <p:cNvGraphicFramePr>
            <a:graphicFrameLocks noGrp="1"/>
          </p:cNvGraphicFramePr>
          <p:nvPr>
            <p:extLst>
              <p:ext uri="{D42A27DB-BD31-4B8C-83A1-F6EECF244321}">
                <p14:modId xmlns:p14="http://schemas.microsoft.com/office/powerpoint/2010/main" val="2596882324"/>
              </p:ext>
            </p:extLst>
          </p:nvPr>
        </p:nvGraphicFramePr>
        <p:xfrm>
          <a:off x="786440" y="1442898"/>
          <a:ext cx="10421252" cy="4976120"/>
        </p:xfrm>
        <a:graphic>
          <a:graphicData uri="http://schemas.openxmlformats.org/drawingml/2006/table">
            <a:tbl>
              <a:tblPr firstRow="1" bandRow="1">
                <a:tableStyleId>{5C22544A-7EE6-4342-B048-85BDC9FD1C3A}</a:tableStyleId>
              </a:tblPr>
              <a:tblGrid>
                <a:gridCol w="1976200">
                  <a:extLst>
                    <a:ext uri="{9D8B030D-6E8A-4147-A177-3AD203B41FA5}">
                      <a16:colId xmlns:a16="http://schemas.microsoft.com/office/drawing/2014/main" val="3896862052"/>
                    </a:ext>
                  </a:extLst>
                </a:gridCol>
                <a:gridCol w="8445052">
                  <a:extLst>
                    <a:ext uri="{9D8B030D-6E8A-4147-A177-3AD203B41FA5}">
                      <a16:colId xmlns:a16="http://schemas.microsoft.com/office/drawing/2014/main" val="1796380576"/>
                    </a:ext>
                  </a:extLst>
                </a:gridCol>
              </a:tblGrid>
              <a:tr h="621194">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Times New Roman" panose="02020603050405020304" pitchFamily="18" charset="0"/>
                          <a:cs typeface="Times New Roman" panose="02020603050405020304" pitchFamily="18" charset="0"/>
                        </a:rPr>
                        <a:t>Title</a:t>
                      </a:r>
                    </a:p>
                    <a:p>
                      <a:pPr algn="just"/>
                      <a:endParaRPr lang="en-US" sz="20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Times New Roman" panose="02020603050405020304" pitchFamily="18" charset="0"/>
                          <a:cs typeface="Times New Roman" panose="02020603050405020304" pitchFamily="18" charset="0"/>
                        </a:rPr>
                        <a:t>“Diabetes mellitus early stage risk prediction using machine learning algorithms”</a:t>
                      </a:r>
                      <a:endParaRPr lang="en-US" sz="2000" b="1"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8998015"/>
                  </a:ext>
                </a:extLst>
              </a:tr>
              <a:tr h="424191">
                <a:tc>
                  <a:txBody>
                    <a:bodyPr/>
                    <a:lstStyle/>
                    <a:p>
                      <a:pPr algn="just"/>
                      <a:r>
                        <a:rPr lang="en-US" sz="2000" dirty="0">
                          <a:latin typeface="Times New Roman" panose="02020603050405020304" pitchFamily="18" charset="0"/>
                          <a:cs typeface="Times New Roman" panose="02020603050405020304" pitchFamily="18" charset="0"/>
                        </a:rPr>
                        <a:t>Authors</a:t>
                      </a:r>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dirty="0" err="1">
                          <a:latin typeface="Times New Roman" panose="02020603050405020304" pitchFamily="18" charset="0"/>
                          <a:cs typeface="Times New Roman" panose="02020603050405020304" pitchFamily="18" charset="0"/>
                        </a:rPr>
                        <a:t>Sarra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Samet</a:t>
                      </a:r>
                      <a:r>
                        <a:rPr lang="en-US" dirty="0">
                          <a:latin typeface="Times New Roman" panose="02020603050405020304" pitchFamily="18" charset="0"/>
                          <a:cs typeface="Times New Roman" panose="02020603050405020304" pitchFamily="18" charset="0"/>
                        </a:rPr>
                        <a:t> , Mohamed </a:t>
                      </a:r>
                      <a:r>
                        <a:rPr lang="en-US" dirty="0" err="1">
                          <a:latin typeface="Times New Roman" panose="02020603050405020304" pitchFamily="18" charset="0"/>
                          <a:cs typeface="Times New Roman" panose="02020603050405020304" pitchFamily="18" charset="0"/>
                        </a:rPr>
                        <a:t>ridda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Laouar</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Bendib</a:t>
                      </a:r>
                      <a:r>
                        <a:rPr lang="en-US" dirty="0">
                          <a:latin typeface="Times New Roman" panose="02020603050405020304" pitchFamily="18" charset="0"/>
                          <a:cs typeface="Times New Roman" panose="02020603050405020304" pitchFamily="18" charset="0"/>
                        </a:rPr>
                        <a:t> Issam</a:t>
                      </a:r>
                    </a:p>
                  </a:txBody>
                  <a:tcPr/>
                </a:tc>
                <a:extLst>
                  <a:ext uri="{0D108BD9-81ED-4DB2-BD59-A6C34878D82A}">
                    <a16:rowId xmlns:a16="http://schemas.microsoft.com/office/drawing/2014/main" val="3400777901"/>
                  </a:ext>
                </a:extLst>
              </a:tr>
              <a:tr h="567177">
                <a:tc>
                  <a:txBody>
                    <a:bodyPr/>
                    <a:lstStyle/>
                    <a:p>
                      <a:pPr algn="just"/>
                      <a:r>
                        <a:rPr lang="en-US" sz="2000" dirty="0">
                          <a:latin typeface="Times New Roman" panose="02020603050405020304" pitchFamily="18" charset="0"/>
                          <a:cs typeface="Times New Roman" panose="02020603050405020304" pitchFamily="18" charset="0"/>
                        </a:rPr>
                        <a:t>Published</a:t>
                      </a:r>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21</a:t>
                      </a:r>
                      <a:r>
                        <a:rPr lang="en-US" sz="1800" b="0" i="0" kern="1200" baseline="30000" dirty="0">
                          <a:solidFill>
                            <a:schemeClr val="dk1"/>
                          </a:solidFill>
                          <a:effectLst/>
                          <a:latin typeface="Times New Roman" panose="02020603050405020304" pitchFamily="18" charset="0"/>
                          <a:ea typeface="+mn-ea"/>
                          <a:cs typeface="Times New Roman" panose="02020603050405020304" pitchFamily="18" charset="0"/>
                        </a:rPr>
                        <a:t>st</a:t>
                      </a:r>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 October, 2021 at International Conference on Networking and Advanced Systems (ICNAS)</a:t>
                      </a:r>
                    </a:p>
                  </a:txBody>
                  <a:tcPr/>
                </a:tc>
                <a:extLst>
                  <a:ext uri="{0D108BD9-81ED-4DB2-BD59-A6C34878D82A}">
                    <a16:rowId xmlns:a16="http://schemas.microsoft.com/office/drawing/2014/main" val="3076701596"/>
                  </a:ext>
                </a:extLst>
              </a:tr>
              <a:tr h="1158167">
                <a:tc>
                  <a:txBody>
                    <a:bodyPr/>
                    <a:lstStyle/>
                    <a:p>
                      <a:pPr algn="just"/>
                      <a:r>
                        <a:rPr lang="en-US" sz="2000" dirty="0">
                          <a:latin typeface="Times New Roman" panose="02020603050405020304" pitchFamily="18" charset="0"/>
                          <a:cs typeface="Times New Roman" panose="02020603050405020304" pitchFamily="18" charset="0"/>
                        </a:rPr>
                        <a:t>Methodology</a:t>
                      </a:r>
                    </a:p>
                  </a:txBody>
                  <a:tcPr/>
                </a:tc>
                <a:tc>
                  <a:txBody>
                    <a:bodyPr/>
                    <a:lstStyle/>
                    <a:p>
                      <a:pPr algn="just"/>
                      <a:r>
                        <a:rPr lang="en-US" sz="1600" dirty="0">
                          <a:latin typeface="Times New Roman" panose="02020603050405020304" pitchFamily="18" charset="0"/>
                          <a:cs typeface="Times New Roman" panose="02020603050405020304" pitchFamily="18" charset="0"/>
                        </a:rPr>
                        <a:t>The study utilized the PIMA Indians Diabetes Database and implemented six supervised machine learning classification methods, including Random Forest, Support Vector Machines, Decision Trees, and Logistic Regression, ultimately developing a hybrid model.</a:t>
                      </a:r>
                      <a:endParaRPr lang="en-US" sz="175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11424972"/>
                  </a:ext>
                </a:extLst>
              </a:tr>
              <a:tr h="1026321">
                <a:tc>
                  <a:txBody>
                    <a:bodyPr/>
                    <a:lstStyle/>
                    <a:p>
                      <a:pPr algn="just"/>
                      <a:r>
                        <a:rPr lang="en-US" sz="2000" dirty="0">
                          <a:latin typeface="Times New Roman" panose="02020603050405020304" pitchFamily="18" charset="0"/>
                          <a:cs typeface="Times New Roman" panose="02020603050405020304" pitchFamily="18" charset="0"/>
                        </a:rPr>
                        <a:t>Analysis</a:t>
                      </a:r>
                    </a:p>
                  </a:txBody>
                  <a:tcPr/>
                </a:tc>
                <a:tc>
                  <a:txBody>
                    <a:bodyPr/>
                    <a:lstStyle/>
                    <a:p>
                      <a:pPr algn="just"/>
                      <a:r>
                        <a:rPr lang="en-US" sz="1600" dirty="0">
                          <a:latin typeface="Times New Roman" panose="02020603050405020304" pitchFamily="18" charset="0"/>
                          <a:cs typeface="Times New Roman" panose="02020603050405020304" pitchFamily="18" charset="0"/>
                        </a:rPr>
                        <a:t>The performance of various machine learning models was compared, focusing on their ability to identify diabetes risk patterns and enhance prediction accuracy.</a:t>
                      </a:r>
                      <a:endParaRPr lang="en-US" sz="175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58652141"/>
                  </a:ext>
                </a:extLst>
              </a:tr>
              <a:tr h="1026321">
                <a:tc>
                  <a:txBody>
                    <a:bodyPr/>
                    <a:lstStyle/>
                    <a:p>
                      <a:pPr algn="just"/>
                      <a:r>
                        <a:rPr lang="en-US" sz="2000" dirty="0">
                          <a:latin typeface="Times New Roman" panose="02020603050405020304" pitchFamily="18" charset="0"/>
                          <a:cs typeface="Times New Roman" panose="02020603050405020304" pitchFamily="18" charset="0"/>
                        </a:rPr>
                        <a:t>Result</a:t>
                      </a:r>
                    </a:p>
                  </a:txBody>
                  <a:tcPr/>
                </a:tc>
                <a:tc>
                  <a:txBody>
                    <a:bodyPr/>
                    <a:lstStyle/>
                    <a:p>
                      <a:pPr algn="just"/>
                      <a:r>
                        <a:rPr lang="en-US" sz="1600" dirty="0">
                          <a:latin typeface="Times New Roman" panose="02020603050405020304" pitchFamily="18" charset="0"/>
                          <a:cs typeface="Times New Roman" panose="02020603050405020304" pitchFamily="18" charset="0"/>
                        </a:rPr>
                        <a:t>The hybrid model achieved an accuracy of 90.62%, surpassing individual methods like Naive Bayes (76.30%) and SVM (77%). The findings underscore the potential of predictive analytics in healthcare for improving patient outcomes.</a:t>
                      </a:r>
                      <a:endParaRPr lang="en-US" sz="175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53859244"/>
                  </a:ext>
                </a:extLst>
              </a:tr>
            </a:tbl>
          </a:graphicData>
        </a:graphic>
      </p:graphicFrame>
      <p:sp>
        <p:nvSpPr>
          <p:cNvPr id="10" name="Slide Number Placeholder 1">
            <a:extLst>
              <a:ext uri="{FF2B5EF4-FFF2-40B4-BE49-F238E27FC236}">
                <a16:creationId xmlns:a16="http://schemas.microsoft.com/office/drawing/2014/main" id="{C60BF6C8-C370-D2D9-B526-C1AC844E07AB}"/>
              </a:ext>
            </a:extLst>
          </p:cNvPr>
          <p:cNvSpPr>
            <a:spLocks noGrp="1"/>
          </p:cNvSpPr>
          <p:nvPr>
            <p:ph type="sldNum" sz="quarter" idx="12"/>
          </p:nvPr>
        </p:nvSpPr>
        <p:spPr>
          <a:xfrm>
            <a:off x="11371311" y="6419018"/>
            <a:ext cx="683339" cy="365125"/>
          </a:xfrm>
        </p:spPr>
        <p:txBody>
          <a:bodyPr/>
          <a:lstStyle/>
          <a:p>
            <a:fld id="{DCDA61CE-80EA-4586-AB04-B95879AC9DE7}" type="slidenum">
              <a:rPr lang="en-US" sz="1800" b="1" smtClean="0">
                <a:solidFill>
                  <a:schemeClr val="tx1"/>
                </a:solidFill>
                <a:latin typeface="Times New Roman" panose="02020603050405020304" pitchFamily="18" charset="0"/>
                <a:cs typeface="Times New Roman" panose="02020603050405020304" pitchFamily="18" charset="0"/>
              </a:rPr>
              <a:t>13</a:t>
            </a:fld>
            <a:endParaRPr lang="en-US" sz="1800" b="1" dirty="0">
              <a:solidFill>
                <a:schemeClr val="tx1"/>
              </a:solidFill>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0DCC8330-2393-4C3F-5AB8-C0B6E5A57918}"/>
              </a:ext>
            </a:extLst>
          </p:cNvPr>
          <p:cNvSpPr/>
          <p:nvPr/>
        </p:nvSpPr>
        <p:spPr>
          <a:xfrm>
            <a:off x="2491530" y="254620"/>
            <a:ext cx="6180743" cy="6513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latin typeface="Times New Roman" panose="02020603050405020304" pitchFamily="18" charset="0"/>
                <a:cs typeface="Times New Roman" panose="02020603050405020304" pitchFamily="18" charset="0"/>
              </a:rPr>
              <a:t>LITERATURE REVIEW-4</a:t>
            </a:r>
          </a:p>
        </p:txBody>
      </p:sp>
      <p:sp>
        <p:nvSpPr>
          <p:cNvPr id="12" name="Rectangle 11">
            <a:extLst>
              <a:ext uri="{FF2B5EF4-FFF2-40B4-BE49-F238E27FC236}">
                <a16:creationId xmlns:a16="http://schemas.microsoft.com/office/drawing/2014/main" id="{A25C2385-4542-A13A-AC5F-1EE832253241}"/>
              </a:ext>
            </a:extLst>
          </p:cNvPr>
          <p:cNvSpPr/>
          <p:nvPr/>
        </p:nvSpPr>
        <p:spPr>
          <a:xfrm>
            <a:off x="609600" y="1011903"/>
            <a:ext cx="1659042" cy="43099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Paper -14</a:t>
            </a:r>
          </a:p>
        </p:txBody>
      </p:sp>
    </p:spTree>
    <p:extLst>
      <p:ext uri="{BB962C8B-B14F-4D97-AF65-F5344CB8AC3E}">
        <p14:creationId xmlns:p14="http://schemas.microsoft.com/office/powerpoint/2010/main" val="12903068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a:extLst>
              <a:ext uri="{FF2B5EF4-FFF2-40B4-BE49-F238E27FC236}">
                <a16:creationId xmlns:a16="http://schemas.microsoft.com/office/drawing/2014/main" id="{F54C2CE4-F3D4-D3E3-7A6F-E837399728A6}"/>
              </a:ext>
            </a:extLst>
          </p:cNvPr>
          <p:cNvSpPr>
            <a:spLocks noGrp="1"/>
          </p:cNvSpPr>
          <p:nvPr>
            <p:ph type="sldNum" sz="quarter" idx="12"/>
          </p:nvPr>
        </p:nvSpPr>
        <p:spPr>
          <a:xfrm>
            <a:off x="11417753" y="6492875"/>
            <a:ext cx="683339" cy="365125"/>
          </a:xfrm>
        </p:spPr>
        <p:txBody>
          <a:bodyPr/>
          <a:lstStyle/>
          <a:p>
            <a:fld id="{DCDA61CE-80EA-4586-AB04-B95879AC9DE7}" type="slidenum">
              <a:rPr lang="en-US" sz="1800" b="1" smtClean="0">
                <a:solidFill>
                  <a:schemeClr val="tx1"/>
                </a:solidFill>
              </a:rPr>
              <a:t>14</a:t>
            </a:fld>
            <a:endParaRPr lang="en-US" sz="1800" b="1" dirty="0">
              <a:solidFill>
                <a:schemeClr val="tx1"/>
              </a:solidFill>
            </a:endParaRPr>
          </a:p>
        </p:txBody>
      </p:sp>
      <p:sp>
        <p:nvSpPr>
          <p:cNvPr id="8" name="Rectangle 7">
            <a:extLst>
              <a:ext uri="{FF2B5EF4-FFF2-40B4-BE49-F238E27FC236}">
                <a16:creationId xmlns:a16="http://schemas.microsoft.com/office/drawing/2014/main" id="{7BEA04A8-3A7D-6DE4-B745-84511FA2117D}"/>
              </a:ext>
            </a:extLst>
          </p:cNvPr>
          <p:cNvSpPr/>
          <p:nvPr/>
        </p:nvSpPr>
        <p:spPr>
          <a:xfrm>
            <a:off x="2248347" y="256795"/>
            <a:ext cx="6497619" cy="732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latin typeface="Times New Roman" panose="02020603050405020304" pitchFamily="18" charset="0"/>
                <a:cs typeface="Times New Roman" panose="02020603050405020304" pitchFamily="18" charset="0"/>
              </a:rPr>
              <a:t>LITERATURE REVIEW-4 (Cond..)</a:t>
            </a:r>
          </a:p>
        </p:txBody>
      </p:sp>
      <p:sp>
        <p:nvSpPr>
          <p:cNvPr id="9" name="Content Placeholder 7">
            <a:extLst>
              <a:ext uri="{FF2B5EF4-FFF2-40B4-BE49-F238E27FC236}">
                <a16:creationId xmlns:a16="http://schemas.microsoft.com/office/drawing/2014/main" id="{A823859D-0C82-A530-33E9-AED753A96085}"/>
              </a:ext>
            </a:extLst>
          </p:cNvPr>
          <p:cNvSpPr txBox="1">
            <a:spLocks/>
          </p:cNvSpPr>
          <p:nvPr/>
        </p:nvSpPr>
        <p:spPr>
          <a:xfrm>
            <a:off x="987056" y="1488613"/>
            <a:ext cx="8596668" cy="3880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Limited dataset affects generalizability.</a:t>
            </a:r>
          </a:p>
          <a:p>
            <a:pPr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Lack of external validation requires broader testing.</a:t>
            </a:r>
          </a:p>
          <a:p>
            <a:pPr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Incomplete feature selection may overlook important predictors.</a:t>
            </a:r>
          </a:p>
          <a:p>
            <a:pPr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Hybrid models can be complex and hard to interpret.</a:t>
            </a:r>
          </a:p>
          <a:p>
            <a:pPr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Data quality issues may impact accuracy.</a:t>
            </a:r>
          </a:p>
          <a:p>
            <a:pPr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Risk of overfitting to training data.</a:t>
            </a:r>
          </a:p>
        </p:txBody>
      </p:sp>
      <p:sp>
        <p:nvSpPr>
          <p:cNvPr id="2" name="Rectangle 1">
            <a:extLst>
              <a:ext uri="{FF2B5EF4-FFF2-40B4-BE49-F238E27FC236}">
                <a16:creationId xmlns:a16="http://schemas.microsoft.com/office/drawing/2014/main" id="{5C1D85E0-4063-7D14-7F87-FC34A041A7D7}"/>
              </a:ext>
            </a:extLst>
          </p:cNvPr>
          <p:cNvSpPr/>
          <p:nvPr/>
        </p:nvSpPr>
        <p:spPr>
          <a:xfrm>
            <a:off x="987056" y="1239399"/>
            <a:ext cx="3541401" cy="4562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LIMITATIONS</a:t>
            </a:r>
          </a:p>
        </p:txBody>
      </p:sp>
    </p:spTree>
    <p:extLst>
      <p:ext uri="{BB962C8B-B14F-4D97-AF65-F5344CB8AC3E}">
        <p14:creationId xmlns:p14="http://schemas.microsoft.com/office/powerpoint/2010/main" val="13035769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568FAE5-8555-64CE-209B-B0304C0AA9EB}"/>
              </a:ext>
            </a:extLst>
          </p:cNvPr>
          <p:cNvSpPr>
            <a:spLocks noGrp="1"/>
          </p:cNvSpPr>
          <p:nvPr>
            <p:ph type="sldNum" sz="quarter" idx="12"/>
          </p:nvPr>
        </p:nvSpPr>
        <p:spPr>
          <a:xfrm>
            <a:off x="11442920" y="6492875"/>
            <a:ext cx="683339" cy="365125"/>
          </a:xfrm>
        </p:spPr>
        <p:txBody>
          <a:bodyPr/>
          <a:lstStyle/>
          <a:p>
            <a:fld id="{DCDA61CE-80EA-4586-AB04-B95879AC9DE7}" type="slidenum">
              <a:rPr lang="en-US" sz="1800" b="1" smtClean="0">
                <a:solidFill>
                  <a:schemeClr val="tx1"/>
                </a:solidFill>
              </a:rPr>
              <a:t>15</a:t>
            </a:fld>
            <a:endParaRPr lang="en-US" sz="1800" b="1" dirty="0">
              <a:solidFill>
                <a:schemeClr val="tx1"/>
              </a:solidFill>
            </a:endParaRPr>
          </a:p>
        </p:txBody>
      </p:sp>
      <p:sp>
        <p:nvSpPr>
          <p:cNvPr id="9" name="Rectangle 8">
            <a:extLst>
              <a:ext uri="{FF2B5EF4-FFF2-40B4-BE49-F238E27FC236}">
                <a16:creationId xmlns:a16="http://schemas.microsoft.com/office/drawing/2014/main" id="{B4455651-8C1F-49F5-A513-3A3436BF5C41}"/>
              </a:ext>
            </a:extLst>
          </p:cNvPr>
          <p:cNvSpPr/>
          <p:nvPr/>
        </p:nvSpPr>
        <p:spPr>
          <a:xfrm>
            <a:off x="2461819" y="233885"/>
            <a:ext cx="6180743" cy="5389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latin typeface="Times New Roman" panose="02020603050405020304" pitchFamily="18" charset="0"/>
                <a:cs typeface="Times New Roman" panose="02020603050405020304" pitchFamily="18" charset="0"/>
              </a:rPr>
              <a:t>METHODOLOGY </a:t>
            </a:r>
          </a:p>
        </p:txBody>
      </p:sp>
      <p:pic>
        <p:nvPicPr>
          <p:cNvPr id="7" name="Picture 6">
            <a:extLst>
              <a:ext uri="{FF2B5EF4-FFF2-40B4-BE49-F238E27FC236}">
                <a16:creationId xmlns:a16="http://schemas.microsoft.com/office/drawing/2014/main" id="{2915358E-1C2D-4489-8B33-1DA8571992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1537" y="885824"/>
            <a:ext cx="8161708" cy="5502275"/>
          </a:xfrm>
          <a:prstGeom prst="rect">
            <a:avLst/>
          </a:prstGeom>
        </p:spPr>
      </p:pic>
    </p:spTree>
    <p:extLst>
      <p:ext uri="{BB962C8B-B14F-4D97-AF65-F5344CB8AC3E}">
        <p14:creationId xmlns:p14="http://schemas.microsoft.com/office/powerpoint/2010/main" val="42675826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568FAE5-8555-64CE-209B-B0304C0AA9EB}"/>
              </a:ext>
            </a:extLst>
          </p:cNvPr>
          <p:cNvSpPr>
            <a:spLocks noGrp="1"/>
          </p:cNvSpPr>
          <p:nvPr>
            <p:ph type="sldNum" sz="quarter" idx="12"/>
          </p:nvPr>
        </p:nvSpPr>
        <p:spPr>
          <a:xfrm>
            <a:off x="11442920" y="6492875"/>
            <a:ext cx="683339" cy="365125"/>
          </a:xfrm>
        </p:spPr>
        <p:txBody>
          <a:bodyPr/>
          <a:lstStyle/>
          <a:p>
            <a:fld id="{DCDA61CE-80EA-4586-AB04-B95879AC9DE7}" type="slidenum">
              <a:rPr lang="en-US" sz="1800" b="1" smtClean="0">
                <a:solidFill>
                  <a:schemeClr val="tx1"/>
                </a:solidFill>
              </a:rPr>
              <a:t>16</a:t>
            </a:fld>
            <a:endParaRPr lang="en-US" sz="1800" b="1" dirty="0">
              <a:solidFill>
                <a:schemeClr val="tx1"/>
              </a:solidFill>
            </a:endParaRPr>
          </a:p>
        </p:txBody>
      </p:sp>
      <p:sp>
        <p:nvSpPr>
          <p:cNvPr id="5" name="Rectangle 4"/>
          <p:cNvSpPr/>
          <p:nvPr/>
        </p:nvSpPr>
        <p:spPr>
          <a:xfrm>
            <a:off x="987056" y="1027283"/>
            <a:ext cx="2432419" cy="4562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solidFill>
                  <a:schemeClr val="tx1"/>
                </a:solidFill>
                <a:latin typeface="Times New Roman" panose="02020603050405020304" pitchFamily="18" charset="0"/>
                <a:cs typeface="Times New Roman" panose="02020603050405020304" pitchFamily="18" charset="0"/>
              </a:rPr>
              <a:t>DATA SET </a:t>
            </a:r>
          </a:p>
        </p:txBody>
      </p:sp>
      <p:sp>
        <p:nvSpPr>
          <p:cNvPr id="6" name="Content Placeholder 2">
            <a:extLst>
              <a:ext uri="{FF2B5EF4-FFF2-40B4-BE49-F238E27FC236}">
                <a16:creationId xmlns:a16="http://schemas.microsoft.com/office/drawing/2014/main" id="{89A5AE3C-4947-41F9-902A-ECFBA5FDD9BE}"/>
              </a:ext>
            </a:extLst>
          </p:cNvPr>
          <p:cNvSpPr txBox="1">
            <a:spLocks/>
          </p:cNvSpPr>
          <p:nvPr/>
        </p:nvSpPr>
        <p:spPr>
          <a:xfrm>
            <a:off x="872756" y="1737991"/>
            <a:ext cx="8574755" cy="2142809"/>
          </a:xfrm>
          <a:prstGeom prst="rect">
            <a:avLst/>
          </a:prstGeom>
        </p:spPr>
        <p:txBody>
          <a:bodyPr>
            <a:normAutofit fontScale="925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lnSpc>
                <a:spcPct val="150000"/>
              </a:lnSpc>
              <a:buSzPct val="100000"/>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Collect Early Stage Diabetes Risk Prediction Dataset from </a:t>
            </a:r>
            <a:r>
              <a:rPr lang="en-US" dirty="0">
                <a:solidFill>
                  <a:schemeClr val="tx1"/>
                </a:solidFill>
                <a:latin typeface="Times New Roman" panose="02020603050405020304" pitchFamily="18" charset="0"/>
                <a:cs typeface="Times New Roman" panose="02020603050405020304" pitchFamily="18" charset="0"/>
                <a:hlinkClick r:id="rId2"/>
              </a:rPr>
              <a:t>www.kaggle.com</a:t>
            </a:r>
            <a:r>
              <a:rPr lang="en-US" dirty="0">
                <a:solidFill>
                  <a:schemeClr val="tx1"/>
                </a:solidFill>
                <a:latin typeface="Times New Roman" panose="02020603050405020304" pitchFamily="18" charset="0"/>
                <a:cs typeface="Times New Roman" panose="02020603050405020304" pitchFamily="18" charset="0"/>
              </a:rPr>
              <a:t>. We have 520 rows and 17 columns of pieces of information data. </a:t>
            </a:r>
          </a:p>
          <a:p>
            <a:pPr algn="just">
              <a:lnSpc>
                <a:spcPct val="150000"/>
              </a:lnSpc>
              <a:buSzPct val="100000"/>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Data set Link: </a:t>
            </a:r>
            <a:r>
              <a:rPr lang="en-US" dirty="0">
                <a:solidFill>
                  <a:schemeClr val="tx1"/>
                </a:solidFill>
                <a:latin typeface="Times New Roman" panose="02020603050405020304" pitchFamily="18" charset="0"/>
                <a:cs typeface="Times New Roman" panose="02020603050405020304" pitchFamily="18" charset="0"/>
                <a:hlinkClick r:id="rId3"/>
              </a:rPr>
              <a:t>https://www.kaggle.com/datasets/ishandutta/early-stage-diabetes-risk-prediction-dataset/data</a:t>
            </a:r>
            <a:endParaRPr lang="en-US" dirty="0">
              <a:solidFill>
                <a:schemeClr val="tx1"/>
              </a:solidFill>
              <a:latin typeface="Times New Roman" panose="02020603050405020304" pitchFamily="18" charset="0"/>
              <a:cs typeface="Times New Roman" panose="02020603050405020304" pitchFamily="18" charset="0"/>
            </a:endParaRPr>
          </a:p>
          <a:p>
            <a:pPr algn="just">
              <a:lnSpc>
                <a:spcPct val="150000"/>
              </a:lnSpc>
              <a:buSzPct val="100000"/>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Process the data according to our requirements. </a:t>
            </a:r>
          </a:p>
          <a:p>
            <a:pPr algn="just">
              <a:lnSpc>
                <a:spcPct val="150000"/>
              </a:lnSpc>
              <a:buClr>
                <a:schemeClr val="tx1"/>
              </a:buClr>
              <a:buSzPct val="100000"/>
            </a:pPr>
            <a:endParaRPr lang="en-US" dirty="0">
              <a:solidFill>
                <a:schemeClr val="tx1"/>
              </a:solidFill>
              <a:latin typeface="Times New Roman" panose="02020603050405020304" pitchFamily="18" charset="0"/>
              <a:cs typeface="Times New Roman" panose="02020603050405020304" pitchFamily="18" charset="0"/>
            </a:endParaRPr>
          </a:p>
          <a:p>
            <a:pPr algn="just">
              <a:lnSpc>
                <a:spcPct val="150000"/>
              </a:lnSpc>
              <a:buClr>
                <a:schemeClr val="tx1"/>
              </a:buClr>
              <a:buSzPct val="100000"/>
            </a:pPr>
            <a:endParaRPr lang="en-US" dirty="0">
              <a:solidFill>
                <a:schemeClr val="tx1"/>
              </a:solidFill>
              <a:latin typeface="Times New Roman" panose="02020603050405020304" pitchFamily="18" charset="0"/>
              <a:cs typeface="Times New Roman" panose="02020603050405020304" pitchFamily="18" charset="0"/>
            </a:endParaRPr>
          </a:p>
          <a:p>
            <a:pPr algn="just">
              <a:lnSpc>
                <a:spcPct val="150000"/>
              </a:lnSpc>
              <a:buClr>
                <a:schemeClr val="tx1"/>
              </a:buClr>
              <a:buSzPct val="100000"/>
            </a:pPr>
            <a:endParaRPr lang="en-US" dirty="0">
              <a:solidFill>
                <a:schemeClr val="tx1"/>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B4455651-8C1F-49F5-A513-3A3436BF5C41}"/>
              </a:ext>
            </a:extLst>
          </p:cNvPr>
          <p:cNvSpPr/>
          <p:nvPr/>
        </p:nvSpPr>
        <p:spPr>
          <a:xfrm>
            <a:off x="2461819" y="233885"/>
            <a:ext cx="6180743" cy="5389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latin typeface="Times New Roman" panose="02020603050405020304" pitchFamily="18" charset="0"/>
                <a:cs typeface="Times New Roman" panose="02020603050405020304" pitchFamily="18" charset="0"/>
              </a:rPr>
              <a:t>METHODOLOGY (Cond..) </a:t>
            </a:r>
          </a:p>
        </p:txBody>
      </p:sp>
    </p:spTree>
    <p:extLst>
      <p:ext uri="{BB962C8B-B14F-4D97-AF65-F5344CB8AC3E}">
        <p14:creationId xmlns:p14="http://schemas.microsoft.com/office/powerpoint/2010/main" val="3187018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568FAE5-8555-64CE-209B-B0304C0AA9EB}"/>
              </a:ext>
            </a:extLst>
          </p:cNvPr>
          <p:cNvSpPr>
            <a:spLocks noGrp="1"/>
          </p:cNvSpPr>
          <p:nvPr>
            <p:ph type="sldNum" sz="quarter" idx="12"/>
          </p:nvPr>
        </p:nvSpPr>
        <p:spPr>
          <a:xfrm>
            <a:off x="11442920" y="6492875"/>
            <a:ext cx="683339" cy="365125"/>
          </a:xfrm>
        </p:spPr>
        <p:txBody>
          <a:bodyPr/>
          <a:lstStyle/>
          <a:p>
            <a:fld id="{DCDA61CE-80EA-4586-AB04-B95879AC9DE7}" type="slidenum">
              <a:rPr lang="en-US" sz="1800" b="1" smtClean="0">
                <a:solidFill>
                  <a:schemeClr val="tx1"/>
                </a:solidFill>
              </a:rPr>
              <a:t>17</a:t>
            </a:fld>
            <a:endParaRPr lang="en-US" sz="1800" b="1" dirty="0">
              <a:solidFill>
                <a:schemeClr val="tx1"/>
              </a:solidFill>
            </a:endParaRPr>
          </a:p>
        </p:txBody>
      </p:sp>
      <p:sp>
        <p:nvSpPr>
          <p:cNvPr id="5" name="Rectangle 4"/>
          <p:cNvSpPr/>
          <p:nvPr/>
        </p:nvSpPr>
        <p:spPr>
          <a:xfrm>
            <a:off x="987056" y="944593"/>
            <a:ext cx="5108944" cy="53897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solidFill>
                  <a:schemeClr val="tx1"/>
                </a:solidFill>
                <a:latin typeface="Times New Roman" panose="02020603050405020304" pitchFamily="18" charset="0"/>
                <a:cs typeface="Times New Roman" panose="02020603050405020304" pitchFamily="18" charset="0"/>
              </a:rPr>
              <a:t>DATA PREPROCESSING</a:t>
            </a:r>
          </a:p>
        </p:txBody>
      </p:sp>
      <p:sp>
        <p:nvSpPr>
          <p:cNvPr id="6" name="Content Placeholder 2">
            <a:extLst>
              <a:ext uri="{FF2B5EF4-FFF2-40B4-BE49-F238E27FC236}">
                <a16:creationId xmlns:a16="http://schemas.microsoft.com/office/drawing/2014/main" id="{89A5AE3C-4947-41F9-902A-ECFBA5FDD9BE}"/>
              </a:ext>
            </a:extLst>
          </p:cNvPr>
          <p:cNvSpPr txBox="1">
            <a:spLocks/>
          </p:cNvSpPr>
          <p:nvPr/>
        </p:nvSpPr>
        <p:spPr>
          <a:xfrm>
            <a:off x="987056" y="1630410"/>
            <a:ext cx="8574755" cy="4415159"/>
          </a:xfrm>
          <a:prstGeom prst="rect">
            <a:avLst/>
          </a:prstGeom>
        </p:spPr>
        <p:style>
          <a:lnRef idx="2">
            <a:schemeClr val="accent3"/>
          </a:lnRef>
          <a:fillRef idx="1">
            <a:schemeClr val="lt1"/>
          </a:fillRef>
          <a:effectRef idx="0">
            <a:schemeClr val="accent3"/>
          </a:effectRef>
          <a:fontRef idx="minor">
            <a:schemeClr val="dk1"/>
          </a:fontRef>
        </p:style>
        <p:txBody>
          <a:bodyPr>
            <a:normAutofit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just">
              <a:lnSpc>
                <a:spcPct val="150000"/>
              </a:lnSpc>
              <a:buClr>
                <a:schemeClr val="tx1"/>
              </a:buClr>
              <a:buSzPct val="100000"/>
              <a:buNone/>
            </a:pPr>
            <a:r>
              <a:rPr lang="en-US" sz="2000" dirty="0">
                <a:solidFill>
                  <a:schemeClr val="tx1"/>
                </a:solidFill>
                <a:latin typeface="Times New Roman" panose="02020603050405020304" pitchFamily="18" charset="0"/>
                <a:cs typeface="Times New Roman" panose="02020603050405020304" pitchFamily="18" charset="0"/>
              </a:rPr>
              <a:t>The preprocessing techniques used in this research include:</a:t>
            </a:r>
          </a:p>
          <a:p>
            <a:pPr marL="800100" lvl="1" indent="-400050" algn="just">
              <a:lnSpc>
                <a:spcPct val="150000"/>
              </a:lnSpc>
              <a:buClr>
                <a:schemeClr val="tx1"/>
              </a:buClr>
              <a:buSzPct val="100000"/>
              <a:buFont typeface="+mj-lt"/>
              <a:buAutoNum type="romanLcPeriod"/>
            </a:pPr>
            <a:r>
              <a:rPr lang="en-US" sz="2000" dirty="0">
                <a:solidFill>
                  <a:schemeClr val="tx1"/>
                </a:solidFill>
                <a:latin typeface="Times New Roman" panose="02020603050405020304" pitchFamily="18" charset="0"/>
                <a:cs typeface="Times New Roman" panose="02020603050405020304" pitchFamily="18" charset="0"/>
              </a:rPr>
              <a:t>Convert the category data into numeric data used Label Encoding.</a:t>
            </a:r>
          </a:p>
          <a:p>
            <a:pPr marL="800100" lvl="1" indent="-400050" algn="just">
              <a:lnSpc>
                <a:spcPct val="150000"/>
              </a:lnSpc>
              <a:buClr>
                <a:schemeClr val="tx1"/>
              </a:buClr>
              <a:buSzPct val="100000"/>
              <a:buFont typeface="+mj-lt"/>
              <a:buAutoNum type="romanLcPeriod"/>
            </a:pPr>
            <a:r>
              <a:rPr lang="en-US" sz="2000" dirty="0">
                <a:solidFill>
                  <a:schemeClr val="tx1"/>
                </a:solidFill>
                <a:latin typeface="Times New Roman" panose="02020603050405020304" pitchFamily="18" charset="0"/>
                <a:cs typeface="Times New Roman" panose="02020603050405020304" pitchFamily="18" charset="0"/>
              </a:rPr>
              <a:t>Splitting data into feature and class attributes.</a:t>
            </a:r>
          </a:p>
          <a:p>
            <a:pPr marL="800100" lvl="1" indent="-400050" algn="just">
              <a:lnSpc>
                <a:spcPct val="150000"/>
              </a:lnSpc>
              <a:buClr>
                <a:schemeClr val="tx1"/>
              </a:buClr>
              <a:buSzPct val="100000"/>
              <a:buFont typeface="+mj-lt"/>
              <a:buAutoNum type="romanLcPeriod"/>
            </a:pPr>
            <a:r>
              <a:rPr lang="en-US" sz="2000" dirty="0">
                <a:solidFill>
                  <a:schemeClr val="tx1"/>
                </a:solidFill>
                <a:latin typeface="Times New Roman" panose="02020603050405020304" pitchFamily="18" charset="0"/>
                <a:cs typeface="Times New Roman" panose="02020603050405020304" pitchFamily="18" charset="0"/>
              </a:rPr>
              <a:t>Synthetic Minority Over-sampling Technique (SMOTE) to address class imbalance.</a:t>
            </a:r>
          </a:p>
          <a:p>
            <a:pPr marL="800100" lvl="1" indent="-400050" algn="just">
              <a:lnSpc>
                <a:spcPct val="150000"/>
              </a:lnSpc>
              <a:buClr>
                <a:schemeClr val="tx1"/>
              </a:buClr>
              <a:buSzPct val="100000"/>
              <a:buFont typeface="+mj-lt"/>
              <a:buAutoNum type="romanLcPeriod"/>
            </a:pPr>
            <a:r>
              <a:rPr lang="en-US" sz="2000" dirty="0">
                <a:solidFill>
                  <a:schemeClr val="tx1"/>
                </a:solidFill>
                <a:latin typeface="Times New Roman" panose="02020603050405020304" pitchFamily="18" charset="0"/>
                <a:cs typeface="Times New Roman" panose="02020603050405020304" pitchFamily="18" charset="0"/>
              </a:rPr>
              <a:t>Separation of class labels from feature attributes.</a:t>
            </a:r>
          </a:p>
          <a:p>
            <a:pPr marL="800100" lvl="1" indent="-400050" algn="just">
              <a:lnSpc>
                <a:spcPct val="150000"/>
              </a:lnSpc>
              <a:buClr>
                <a:schemeClr val="tx1"/>
              </a:buClr>
              <a:buSzPct val="100000"/>
              <a:buFont typeface="+mj-lt"/>
              <a:buAutoNum type="romanLcPeriod"/>
            </a:pPr>
            <a:r>
              <a:rPr lang="en-US" sz="2000" dirty="0">
                <a:solidFill>
                  <a:schemeClr val="tx1"/>
                </a:solidFill>
                <a:latin typeface="Times New Roman" panose="02020603050405020304" pitchFamily="18" charset="0"/>
                <a:cs typeface="Times New Roman" panose="02020603050405020304" pitchFamily="18" charset="0"/>
              </a:rPr>
              <a:t>Normalization of feature variables using MinMaxScaler.</a:t>
            </a:r>
          </a:p>
          <a:p>
            <a:pPr marL="800100" lvl="1" indent="-400050" algn="just">
              <a:lnSpc>
                <a:spcPct val="150000"/>
              </a:lnSpc>
              <a:buClr>
                <a:schemeClr val="tx1"/>
              </a:buClr>
              <a:buSzPct val="100000"/>
              <a:buFont typeface="+mj-lt"/>
              <a:buAutoNum type="romanLcPeriod"/>
            </a:pPr>
            <a:r>
              <a:rPr lang="en-US" sz="2000" dirty="0">
                <a:solidFill>
                  <a:schemeClr val="tx1"/>
                </a:solidFill>
                <a:latin typeface="Times New Roman" panose="02020603050405020304" pitchFamily="18" charset="0"/>
                <a:cs typeface="Times New Roman" panose="02020603050405020304" pitchFamily="18" charset="0"/>
              </a:rPr>
              <a:t>Split data into train and test data</a:t>
            </a:r>
          </a:p>
        </p:txBody>
      </p:sp>
      <p:sp>
        <p:nvSpPr>
          <p:cNvPr id="9" name="Rectangle 8">
            <a:extLst>
              <a:ext uri="{FF2B5EF4-FFF2-40B4-BE49-F238E27FC236}">
                <a16:creationId xmlns:a16="http://schemas.microsoft.com/office/drawing/2014/main" id="{B4455651-8C1F-49F5-A513-3A3436BF5C41}"/>
              </a:ext>
            </a:extLst>
          </p:cNvPr>
          <p:cNvSpPr/>
          <p:nvPr/>
        </p:nvSpPr>
        <p:spPr>
          <a:xfrm>
            <a:off x="2461819" y="233885"/>
            <a:ext cx="6180743" cy="5389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latin typeface="Times New Roman" panose="02020603050405020304" pitchFamily="18" charset="0"/>
                <a:cs typeface="Times New Roman" panose="02020603050405020304" pitchFamily="18" charset="0"/>
              </a:rPr>
              <a:t>METHODOLOGY (Cond..)</a:t>
            </a:r>
          </a:p>
        </p:txBody>
      </p:sp>
    </p:spTree>
    <p:extLst>
      <p:ext uri="{BB962C8B-B14F-4D97-AF65-F5344CB8AC3E}">
        <p14:creationId xmlns:p14="http://schemas.microsoft.com/office/powerpoint/2010/main" val="3344674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568FAE5-8555-64CE-209B-B0304C0AA9EB}"/>
              </a:ext>
            </a:extLst>
          </p:cNvPr>
          <p:cNvSpPr>
            <a:spLocks noGrp="1"/>
          </p:cNvSpPr>
          <p:nvPr>
            <p:ph type="sldNum" sz="quarter" idx="12"/>
          </p:nvPr>
        </p:nvSpPr>
        <p:spPr>
          <a:xfrm>
            <a:off x="11442920" y="6492875"/>
            <a:ext cx="683339" cy="365125"/>
          </a:xfrm>
        </p:spPr>
        <p:txBody>
          <a:bodyPr/>
          <a:lstStyle/>
          <a:p>
            <a:fld id="{DCDA61CE-80EA-4586-AB04-B95879AC9DE7}" type="slidenum">
              <a:rPr lang="en-US" sz="1800" b="1" smtClean="0">
                <a:solidFill>
                  <a:schemeClr val="tx1"/>
                </a:solidFill>
              </a:rPr>
              <a:t>18</a:t>
            </a:fld>
            <a:endParaRPr lang="en-US" sz="1800" b="1" dirty="0">
              <a:solidFill>
                <a:schemeClr val="tx1"/>
              </a:solidFill>
            </a:endParaRPr>
          </a:p>
        </p:txBody>
      </p:sp>
      <p:sp>
        <p:nvSpPr>
          <p:cNvPr id="5" name="Rectangle 4"/>
          <p:cNvSpPr/>
          <p:nvPr/>
        </p:nvSpPr>
        <p:spPr>
          <a:xfrm>
            <a:off x="987056" y="1027283"/>
            <a:ext cx="5108944" cy="4562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MODEL SELECTION</a:t>
            </a:r>
          </a:p>
        </p:txBody>
      </p:sp>
      <p:sp>
        <p:nvSpPr>
          <p:cNvPr id="6" name="Content Placeholder 2">
            <a:extLst>
              <a:ext uri="{FF2B5EF4-FFF2-40B4-BE49-F238E27FC236}">
                <a16:creationId xmlns:a16="http://schemas.microsoft.com/office/drawing/2014/main" id="{89A5AE3C-4947-41F9-902A-ECFBA5FDD9BE}"/>
              </a:ext>
            </a:extLst>
          </p:cNvPr>
          <p:cNvSpPr txBox="1">
            <a:spLocks/>
          </p:cNvSpPr>
          <p:nvPr/>
        </p:nvSpPr>
        <p:spPr>
          <a:xfrm>
            <a:off x="987056" y="1633487"/>
            <a:ext cx="8574755" cy="4415159"/>
          </a:xfrm>
          <a:prstGeom prst="rect">
            <a:avLst/>
          </a:prstGeom>
        </p:spPr>
        <p:style>
          <a:lnRef idx="2">
            <a:schemeClr val="accent3"/>
          </a:lnRef>
          <a:fillRef idx="1">
            <a:schemeClr val="lt1"/>
          </a:fillRef>
          <a:effectRef idx="0">
            <a:schemeClr val="accent3"/>
          </a:effectRef>
          <a:fontRef idx="minor">
            <a:schemeClr val="dk1"/>
          </a:fontRef>
        </p:style>
        <p:txBody>
          <a:bodyP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We selected five machine learning classifiers</a:t>
            </a:r>
          </a:p>
          <a:p>
            <a:pPr marL="857250" lvl="1" indent="-400050" algn="just">
              <a:lnSpc>
                <a:spcPct val="150000"/>
              </a:lnSpc>
              <a:buFont typeface="+mj-lt"/>
              <a:buAutoNum type="romanLcPeriod"/>
            </a:pPr>
            <a:r>
              <a:rPr lang="en-US" sz="2000" dirty="0">
                <a:latin typeface="Times New Roman" panose="02020603050405020304" pitchFamily="18" charset="0"/>
                <a:cs typeface="Times New Roman" panose="02020603050405020304" pitchFamily="18" charset="0"/>
              </a:rPr>
              <a:t>Random Forest (RF)</a:t>
            </a:r>
          </a:p>
          <a:p>
            <a:pPr marL="857250" lvl="1" indent="-400050" algn="just">
              <a:lnSpc>
                <a:spcPct val="150000"/>
              </a:lnSpc>
              <a:buFont typeface="+mj-lt"/>
              <a:buAutoNum type="romanLcPeriod"/>
            </a:pPr>
            <a:r>
              <a:rPr lang="en-US" sz="2000" dirty="0">
                <a:latin typeface="Times New Roman" panose="02020603050405020304" pitchFamily="18" charset="0"/>
                <a:cs typeface="Times New Roman" panose="02020603050405020304" pitchFamily="18" charset="0"/>
              </a:rPr>
              <a:t>Support Vector Machine (SVM)</a:t>
            </a:r>
          </a:p>
          <a:p>
            <a:pPr marL="857250" lvl="1" indent="-400050" algn="just">
              <a:lnSpc>
                <a:spcPct val="150000"/>
              </a:lnSpc>
              <a:buFont typeface="+mj-lt"/>
              <a:buAutoNum type="romanLcPeriod"/>
            </a:pPr>
            <a:r>
              <a:rPr lang="en-US" sz="2000" dirty="0">
                <a:latin typeface="Times New Roman" panose="02020603050405020304" pitchFamily="18" charset="0"/>
                <a:cs typeface="Times New Roman" panose="02020603050405020304" pitchFamily="18" charset="0"/>
              </a:rPr>
              <a:t>Decision Tree (DT)</a:t>
            </a:r>
          </a:p>
          <a:p>
            <a:pPr marL="857250" lvl="1" indent="-400050" algn="just">
              <a:lnSpc>
                <a:spcPct val="150000"/>
              </a:lnSpc>
              <a:buFont typeface="+mj-lt"/>
              <a:buAutoNum type="romanLcPeriod"/>
            </a:pPr>
            <a:r>
              <a:rPr lang="en-US" sz="2000" dirty="0">
                <a:latin typeface="Times New Roman" panose="02020603050405020304" pitchFamily="18" charset="0"/>
                <a:cs typeface="Times New Roman" panose="02020603050405020304" pitchFamily="18" charset="0"/>
              </a:rPr>
              <a:t>Linear Regression (LR)</a:t>
            </a:r>
          </a:p>
          <a:p>
            <a:pPr marL="857250" lvl="1" indent="-400050" algn="just">
              <a:lnSpc>
                <a:spcPct val="150000"/>
              </a:lnSpc>
              <a:buFont typeface="+mj-lt"/>
              <a:buAutoNum type="romanLcPeriod"/>
            </a:pPr>
            <a:r>
              <a:rPr lang="en-US" sz="2000" dirty="0">
                <a:latin typeface="Times New Roman" panose="02020603050405020304" pitchFamily="18" charset="0"/>
                <a:cs typeface="Times New Roman" panose="02020603050405020304" pitchFamily="18" charset="0"/>
              </a:rPr>
              <a:t>Extra Tree (ET)</a:t>
            </a:r>
          </a:p>
        </p:txBody>
      </p:sp>
      <p:sp>
        <p:nvSpPr>
          <p:cNvPr id="9" name="Rectangle 8">
            <a:extLst>
              <a:ext uri="{FF2B5EF4-FFF2-40B4-BE49-F238E27FC236}">
                <a16:creationId xmlns:a16="http://schemas.microsoft.com/office/drawing/2014/main" id="{B4455651-8C1F-49F5-A513-3A3436BF5C41}"/>
              </a:ext>
            </a:extLst>
          </p:cNvPr>
          <p:cNvSpPr/>
          <p:nvPr/>
        </p:nvSpPr>
        <p:spPr>
          <a:xfrm>
            <a:off x="2461819" y="233885"/>
            <a:ext cx="6180743" cy="5389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METHODOLOGY (Cond..)</a:t>
            </a:r>
          </a:p>
        </p:txBody>
      </p:sp>
    </p:spTree>
    <p:extLst>
      <p:ext uri="{BB962C8B-B14F-4D97-AF65-F5344CB8AC3E}">
        <p14:creationId xmlns:p14="http://schemas.microsoft.com/office/powerpoint/2010/main" val="29673706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568FAE5-8555-64CE-209B-B0304C0AA9EB}"/>
              </a:ext>
            </a:extLst>
          </p:cNvPr>
          <p:cNvSpPr>
            <a:spLocks noGrp="1"/>
          </p:cNvSpPr>
          <p:nvPr>
            <p:ph type="sldNum" sz="quarter" idx="12"/>
          </p:nvPr>
        </p:nvSpPr>
        <p:spPr>
          <a:xfrm>
            <a:off x="11442920" y="6492875"/>
            <a:ext cx="683339" cy="365125"/>
          </a:xfrm>
        </p:spPr>
        <p:txBody>
          <a:bodyPr/>
          <a:lstStyle/>
          <a:p>
            <a:fld id="{DCDA61CE-80EA-4586-AB04-B95879AC9DE7}" type="slidenum">
              <a:rPr lang="en-US" sz="1800" b="1" smtClean="0">
                <a:solidFill>
                  <a:schemeClr val="tx1"/>
                </a:solidFill>
              </a:rPr>
              <a:t>19</a:t>
            </a:fld>
            <a:endParaRPr lang="en-US" sz="1800" b="1" dirty="0">
              <a:solidFill>
                <a:schemeClr val="tx1"/>
              </a:solidFill>
            </a:endParaRPr>
          </a:p>
        </p:txBody>
      </p:sp>
      <p:sp>
        <p:nvSpPr>
          <p:cNvPr id="5" name="Rectangle 4"/>
          <p:cNvSpPr/>
          <p:nvPr/>
        </p:nvSpPr>
        <p:spPr>
          <a:xfrm>
            <a:off x="1016518" y="911626"/>
            <a:ext cx="3775444" cy="4562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solidFill>
                  <a:schemeClr val="tx1"/>
                </a:solidFill>
                <a:latin typeface="Times New Roman" panose="02020603050405020304" pitchFamily="18" charset="0"/>
                <a:cs typeface="Times New Roman" panose="02020603050405020304" pitchFamily="18" charset="0"/>
              </a:rPr>
              <a:t>Model Tuning</a:t>
            </a:r>
          </a:p>
        </p:txBody>
      </p:sp>
      <p:sp>
        <p:nvSpPr>
          <p:cNvPr id="6" name="Content Placeholder 2">
            <a:extLst>
              <a:ext uri="{FF2B5EF4-FFF2-40B4-BE49-F238E27FC236}">
                <a16:creationId xmlns:a16="http://schemas.microsoft.com/office/drawing/2014/main" id="{89A5AE3C-4947-41F9-902A-ECFBA5FDD9BE}"/>
              </a:ext>
            </a:extLst>
          </p:cNvPr>
          <p:cNvSpPr txBox="1">
            <a:spLocks/>
          </p:cNvSpPr>
          <p:nvPr/>
        </p:nvSpPr>
        <p:spPr>
          <a:xfrm>
            <a:off x="1016518" y="1442130"/>
            <a:ext cx="9071344" cy="5015235"/>
          </a:xfrm>
          <a:prstGeom prst="rect">
            <a:avLst/>
          </a:prstGeom>
        </p:spPr>
        <p:style>
          <a:lnRef idx="2">
            <a:schemeClr val="accent3"/>
          </a:lnRef>
          <a:fillRef idx="1">
            <a:schemeClr val="lt1"/>
          </a:fillRef>
          <a:effectRef idx="0">
            <a:schemeClr val="accent3"/>
          </a:effectRef>
          <a:fontRef idx="minor">
            <a:schemeClr val="dk1"/>
          </a:fontRef>
        </p:style>
        <p:txBody>
          <a:bodyPr>
            <a:normAutofit fontScale="92500"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lnSpc>
                <a:spcPct val="150000"/>
              </a:lnSpc>
              <a:buFont typeface="Wingdings" panose="05000000000000000000" pitchFamily="2" charset="2"/>
              <a:buChar char="v"/>
            </a:pPr>
            <a:r>
              <a:rPr lang="en-US" sz="2000" b="1" dirty="0">
                <a:solidFill>
                  <a:schemeClr val="tx1"/>
                </a:solidFill>
                <a:latin typeface="Times New Roman" panose="02020603050405020304" pitchFamily="18" charset="0"/>
                <a:cs typeface="Times New Roman" panose="02020603050405020304" pitchFamily="18" charset="0"/>
              </a:rPr>
              <a:t>Hyperparameter Tuning: </a:t>
            </a:r>
            <a:r>
              <a:rPr lang="en-US" sz="2000" dirty="0">
                <a:solidFill>
                  <a:schemeClr val="tx1"/>
                </a:solidFill>
                <a:latin typeface="Times New Roman" panose="02020603050405020304" pitchFamily="18" charset="0"/>
                <a:cs typeface="Times New Roman" panose="02020603050405020304" pitchFamily="18" charset="0"/>
              </a:rPr>
              <a:t>Use </a:t>
            </a:r>
            <a:r>
              <a:rPr lang="en-US" sz="2000" b="1" dirty="0">
                <a:solidFill>
                  <a:schemeClr val="tx1"/>
                </a:solidFill>
                <a:latin typeface="Times New Roman" panose="02020603050405020304" pitchFamily="18" charset="0"/>
                <a:cs typeface="Times New Roman" panose="02020603050405020304" pitchFamily="18" charset="0"/>
              </a:rPr>
              <a:t>RandomizedSearchCV</a:t>
            </a:r>
            <a:r>
              <a:rPr lang="en-US" sz="2000" dirty="0">
                <a:solidFill>
                  <a:schemeClr val="tx1"/>
                </a:solidFill>
                <a:latin typeface="Times New Roman" panose="02020603050405020304" pitchFamily="18" charset="0"/>
                <a:cs typeface="Times New Roman" panose="02020603050405020304" pitchFamily="18" charset="0"/>
              </a:rPr>
              <a:t> with 10-fold cross-validation to identify optimal hyperparameters for each model.</a:t>
            </a:r>
          </a:p>
          <a:p>
            <a:pPr algn="just">
              <a:lnSpc>
                <a:spcPct val="150000"/>
              </a:lnSpc>
              <a:buFont typeface="Wingdings" panose="05000000000000000000" pitchFamily="2" charset="2"/>
              <a:buChar char="v"/>
            </a:pPr>
            <a:r>
              <a:rPr lang="en-US" sz="2000" b="1" dirty="0">
                <a:solidFill>
                  <a:schemeClr val="tx1"/>
                </a:solidFill>
                <a:latin typeface="Times New Roman" panose="02020603050405020304" pitchFamily="18" charset="0"/>
                <a:cs typeface="Times New Roman" panose="02020603050405020304" pitchFamily="18" charset="0"/>
              </a:rPr>
              <a:t>Divide Dataset</a:t>
            </a:r>
            <a:r>
              <a:rPr lang="en-US" sz="2000" dirty="0">
                <a:solidFill>
                  <a:schemeClr val="tx1"/>
                </a:solidFill>
                <a:latin typeface="Times New Roman" panose="02020603050405020304" pitchFamily="18" charset="0"/>
                <a:cs typeface="Times New Roman" panose="02020603050405020304" pitchFamily="18" charset="0"/>
              </a:rPr>
              <a:t>: Split the dataset into 10 equal segments (10-fold cross-validation).</a:t>
            </a:r>
          </a:p>
          <a:p>
            <a:pPr algn="just">
              <a:lnSpc>
                <a:spcPct val="150000"/>
              </a:lnSpc>
              <a:buFont typeface="Wingdings" panose="05000000000000000000" pitchFamily="2" charset="2"/>
              <a:buChar char="v"/>
            </a:pPr>
            <a:r>
              <a:rPr lang="en-US" sz="2000" b="1" dirty="0">
                <a:solidFill>
                  <a:schemeClr val="tx1"/>
                </a:solidFill>
                <a:latin typeface="Times New Roman" panose="02020603050405020304" pitchFamily="18" charset="0"/>
                <a:cs typeface="Times New Roman" panose="02020603050405020304" pitchFamily="18" charset="0"/>
              </a:rPr>
              <a:t>Training and Testing:</a:t>
            </a:r>
          </a:p>
          <a:p>
            <a:pPr marL="0" indent="0" algn="just">
              <a:lnSpc>
                <a:spcPct val="150000"/>
              </a:lnSpc>
              <a:buNone/>
            </a:pPr>
            <a:r>
              <a:rPr lang="en-US" sz="2000" dirty="0">
                <a:solidFill>
                  <a:schemeClr val="tx1"/>
                </a:solidFill>
                <a:latin typeface="Times New Roman" panose="02020603050405020304" pitchFamily="18" charset="0"/>
                <a:cs typeface="Times New Roman" panose="02020603050405020304" pitchFamily="18" charset="0"/>
              </a:rPr>
              <a:t>  	 - For each fold, train the model on 9 segments.</a:t>
            </a:r>
          </a:p>
          <a:p>
            <a:pPr marL="0" indent="0" algn="just">
              <a:lnSpc>
                <a:spcPct val="150000"/>
              </a:lnSpc>
              <a:buNone/>
            </a:pPr>
            <a:r>
              <a:rPr lang="en-US" sz="2000" dirty="0">
                <a:solidFill>
                  <a:schemeClr val="tx1"/>
                </a:solidFill>
                <a:latin typeface="Times New Roman" panose="02020603050405020304" pitchFamily="18" charset="0"/>
                <a:cs typeface="Times New Roman" panose="02020603050405020304" pitchFamily="18" charset="0"/>
              </a:rPr>
              <a:t>  	 - Test the model on the remaining 1 segment.</a:t>
            </a:r>
          </a:p>
          <a:p>
            <a:pPr algn="just">
              <a:lnSpc>
                <a:spcPct val="150000"/>
              </a:lnSpc>
              <a:buFont typeface="Wingdings" panose="05000000000000000000" pitchFamily="2" charset="2"/>
              <a:buChar char="v"/>
            </a:pPr>
            <a:r>
              <a:rPr lang="en-US" sz="2000" b="1" dirty="0">
                <a:solidFill>
                  <a:schemeClr val="tx1"/>
                </a:solidFill>
                <a:latin typeface="Times New Roman" panose="02020603050405020304" pitchFamily="18" charset="0"/>
                <a:cs typeface="Times New Roman" panose="02020603050405020304" pitchFamily="18" charset="0"/>
              </a:rPr>
              <a:t>Repeat Across Folds: </a:t>
            </a:r>
            <a:r>
              <a:rPr lang="en-US" sz="2000" dirty="0">
                <a:solidFill>
                  <a:schemeClr val="tx1"/>
                </a:solidFill>
                <a:latin typeface="Times New Roman" panose="02020603050405020304" pitchFamily="18" charset="0"/>
                <a:cs typeface="Times New Roman" panose="02020603050405020304" pitchFamily="18" charset="0"/>
              </a:rPr>
              <a:t>Perform this process for all 10 folds, allowing each segment to serve as the test set once.</a:t>
            </a:r>
          </a:p>
          <a:p>
            <a:pPr algn="just">
              <a:lnSpc>
                <a:spcPct val="150000"/>
              </a:lnSpc>
              <a:buFont typeface="Wingdings" panose="05000000000000000000" pitchFamily="2" charset="2"/>
              <a:buChar char="v"/>
            </a:pPr>
            <a:r>
              <a:rPr lang="en-US" sz="2000" b="1" dirty="0">
                <a:solidFill>
                  <a:schemeClr val="tx1"/>
                </a:solidFill>
                <a:latin typeface="Times New Roman" panose="02020603050405020304" pitchFamily="18" charset="0"/>
                <a:cs typeface="Times New Roman" panose="02020603050405020304" pitchFamily="18" charset="0"/>
              </a:rPr>
              <a:t>Average Results: </a:t>
            </a:r>
            <a:r>
              <a:rPr lang="en-US" sz="2000" dirty="0">
                <a:solidFill>
                  <a:schemeClr val="tx1"/>
                </a:solidFill>
                <a:latin typeface="Times New Roman" panose="02020603050405020304" pitchFamily="18" charset="0"/>
                <a:cs typeface="Times New Roman" panose="02020603050405020304" pitchFamily="18" charset="0"/>
              </a:rPr>
              <a:t>Calculate final performance metrics by averaging results across all folds for a comprehensive evaluation.</a:t>
            </a: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B4455651-8C1F-49F5-A513-3A3436BF5C41}"/>
              </a:ext>
            </a:extLst>
          </p:cNvPr>
          <p:cNvSpPr/>
          <p:nvPr/>
        </p:nvSpPr>
        <p:spPr>
          <a:xfrm>
            <a:off x="2461819" y="233885"/>
            <a:ext cx="6180743" cy="5389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latin typeface="Times New Roman" panose="02020603050405020304" pitchFamily="18" charset="0"/>
                <a:cs typeface="Times New Roman" panose="02020603050405020304" pitchFamily="18" charset="0"/>
              </a:rPr>
              <a:t>METHODOLOGY (Cond..)</a:t>
            </a:r>
          </a:p>
        </p:txBody>
      </p:sp>
    </p:spTree>
    <p:extLst>
      <p:ext uri="{BB962C8B-B14F-4D97-AF65-F5344CB8AC3E}">
        <p14:creationId xmlns:p14="http://schemas.microsoft.com/office/powerpoint/2010/main" val="24722082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409364" y="6492875"/>
            <a:ext cx="683339" cy="365125"/>
          </a:xfrm>
        </p:spPr>
        <p:txBody>
          <a:bodyPr/>
          <a:lstStyle/>
          <a:p>
            <a:fld id="{DCDA61CE-80EA-4586-AB04-B95879AC9DE7}" type="slidenum">
              <a:rPr lang="en-US" sz="1800" b="1" smtClean="0">
                <a:solidFill>
                  <a:schemeClr val="tx1"/>
                </a:solidFill>
              </a:rPr>
              <a:t>20</a:t>
            </a:fld>
            <a:endParaRPr lang="en-US" sz="1800" b="1" dirty="0">
              <a:solidFill>
                <a:schemeClr val="tx1"/>
              </a:solidFill>
            </a:endParaRPr>
          </a:p>
        </p:txBody>
      </p:sp>
      <p:sp>
        <p:nvSpPr>
          <p:cNvPr id="6" name="Rectangle 5"/>
          <p:cNvSpPr/>
          <p:nvPr/>
        </p:nvSpPr>
        <p:spPr>
          <a:xfrm>
            <a:off x="2547544" y="171197"/>
            <a:ext cx="6180743" cy="5389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Times New Roman" panose="02020603050405020304" pitchFamily="18" charset="0"/>
                <a:cs typeface="Times New Roman" panose="02020603050405020304" pitchFamily="18" charset="0"/>
              </a:rPr>
              <a:t>RESULT &amp; DISCUSSION</a:t>
            </a:r>
            <a:endParaRPr lang="en-US" sz="3200" b="1" dirty="0">
              <a:solidFill>
                <a:schemeClr val="tx1"/>
              </a:solidFill>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E4362E8F-3740-46CA-BD50-925AF6CA7A8E}"/>
              </a:ext>
            </a:extLst>
          </p:cNvPr>
          <p:cNvSpPr/>
          <p:nvPr/>
        </p:nvSpPr>
        <p:spPr>
          <a:xfrm>
            <a:off x="615581" y="881967"/>
            <a:ext cx="5318494" cy="4562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latin typeface="Times New Roman" panose="02020603050405020304" pitchFamily="18" charset="0"/>
                <a:cs typeface="Times New Roman" panose="02020603050405020304" pitchFamily="18" charset="0"/>
              </a:rPr>
              <a:t>BEST PARAMETERS FOR EACH MODEL </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FC0ADE7A-59A1-4A10-86CA-AD8E8EF02D38}"/>
              </a:ext>
            </a:extLst>
          </p:cNvPr>
          <p:cNvSpPr txBox="1"/>
          <p:nvPr/>
        </p:nvSpPr>
        <p:spPr>
          <a:xfrm>
            <a:off x="869056" y="4277775"/>
            <a:ext cx="3346557" cy="369332"/>
          </a:xfrm>
          <a:prstGeom prst="rect">
            <a:avLst/>
          </a:prstGeom>
          <a:noFill/>
        </p:spPr>
        <p:txBody>
          <a:bodyPr wrap="none" rtlCol="0">
            <a:spAutoFit/>
          </a:bodyPr>
          <a:lstStyle/>
          <a:p>
            <a:r>
              <a:rPr lang="en-US" dirty="0">
                <a:solidFill>
                  <a:srgbClr val="FF0000"/>
                </a:solidFill>
                <a:latin typeface="Times New Roman" panose="02020603050405020304" pitchFamily="18" charset="0"/>
                <a:cs typeface="Times New Roman" panose="02020603050405020304" pitchFamily="18" charset="0"/>
              </a:rPr>
              <a:t>Fig 1: Confusion Matrix by X-RF.</a:t>
            </a:r>
          </a:p>
        </p:txBody>
      </p:sp>
      <p:pic>
        <p:nvPicPr>
          <p:cNvPr id="13" name="Picture 12">
            <a:extLst>
              <a:ext uri="{FF2B5EF4-FFF2-40B4-BE49-F238E27FC236}">
                <a16:creationId xmlns:a16="http://schemas.microsoft.com/office/drawing/2014/main" id="{CF3D0FFB-81AE-4B4F-8FC3-6608F16CED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4116" y="1338251"/>
            <a:ext cx="3746644" cy="2747974"/>
          </a:xfrm>
          <a:prstGeom prst="rect">
            <a:avLst/>
          </a:prstGeom>
        </p:spPr>
      </p:pic>
      <p:sp>
        <p:nvSpPr>
          <p:cNvPr id="14" name="TextBox 13">
            <a:extLst>
              <a:ext uri="{FF2B5EF4-FFF2-40B4-BE49-F238E27FC236}">
                <a16:creationId xmlns:a16="http://schemas.microsoft.com/office/drawing/2014/main" id="{611A13E3-1F45-4AA3-9C49-39F6EC210A32}"/>
              </a:ext>
            </a:extLst>
          </p:cNvPr>
          <p:cNvSpPr txBox="1"/>
          <p:nvPr/>
        </p:nvSpPr>
        <p:spPr>
          <a:xfrm>
            <a:off x="5986667" y="4214799"/>
            <a:ext cx="3474093" cy="369332"/>
          </a:xfrm>
          <a:prstGeom prst="rect">
            <a:avLst/>
          </a:prstGeom>
          <a:noFill/>
        </p:spPr>
        <p:txBody>
          <a:bodyPr wrap="none" rtlCol="0">
            <a:spAutoFit/>
          </a:bodyPr>
          <a:lstStyle/>
          <a:p>
            <a:r>
              <a:rPr lang="en-US" dirty="0">
                <a:solidFill>
                  <a:srgbClr val="FF0000"/>
                </a:solidFill>
                <a:latin typeface="Times New Roman" panose="02020603050405020304" pitchFamily="18" charset="0"/>
                <a:cs typeface="Times New Roman" panose="02020603050405020304" pitchFamily="18" charset="0"/>
              </a:rPr>
              <a:t>Fig 2: ROC-AUC for All classifiers</a:t>
            </a:r>
          </a:p>
        </p:txBody>
      </p:sp>
      <p:sp>
        <p:nvSpPr>
          <p:cNvPr id="15" name="Rectangle 14">
            <a:extLst>
              <a:ext uri="{FF2B5EF4-FFF2-40B4-BE49-F238E27FC236}">
                <a16:creationId xmlns:a16="http://schemas.microsoft.com/office/drawing/2014/main" id="{196591C2-D869-4895-A0A6-DF1905838CD1}"/>
              </a:ext>
            </a:extLst>
          </p:cNvPr>
          <p:cNvSpPr/>
          <p:nvPr/>
        </p:nvSpPr>
        <p:spPr>
          <a:xfrm>
            <a:off x="615581" y="4919584"/>
            <a:ext cx="9001125" cy="1200329"/>
          </a:xfrm>
          <a:prstGeom prst="rect">
            <a:avLst/>
          </a:prstGeom>
        </p:spPr>
        <p:txBody>
          <a:bodyPr wrap="square">
            <a:spAutoFit/>
          </a:bodyPr>
          <a:lstStyle/>
          <a:p>
            <a:pPr algn="just"/>
            <a:r>
              <a:rPr lang="en-US" dirty="0">
                <a:latin typeface="Times New Roman" panose="02020603050405020304" pitchFamily="18" charset="0"/>
                <a:cs typeface="Times New Roman" panose="02020603050405020304" pitchFamily="18" charset="0"/>
              </a:rPr>
              <a:t>The confusion matrix in Fig. 1 for the RF model, using 640 samples, shows accurate predictions with 313 correctly classified instances of class '0' and 315 of class '1', while only 5 instances of class '0' and 7 of class '1' are misclassified. This indicates the model’s high accuracy and effective class differentiation, accurately classifying the majority of instances in both classes.</a:t>
            </a:r>
          </a:p>
        </p:txBody>
      </p:sp>
      <p:pic>
        <p:nvPicPr>
          <p:cNvPr id="17" name="Picture 16">
            <a:extLst>
              <a:ext uri="{FF2B5EF4-FFF2-40B4-BE49-F238E27FC236}">
                <a16:creationId xmlns:a16="http://schemas.microsoft.com/office/drawing/2014/main" id="{0FD15B9E-7D5C-4291-BE94-145C41B774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2605" y="1611042"/>
            <a:ext cx="3493008" cy="2578608"/>
          </a:xfrm>
          <a:prstGeom prst="rect">
            <a:avLst/>
          </a:prstGeom>
        </p:spPr>
      </p:pic>
    </p:spTree>
    <p:extLst>
      <p:ext uri="{BB962C8B-B14F-4D97-AF65-F5344CB8AC3E}">
        <p14:creationId xmlns:p14="http://schemas.microsoft.com/office/powerpoint/2010/main" val="34474075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409364" y="6492875"/>
            <a:ext cx="683339" cy="365125"/>
          </a:xfrm>
        </p:spPr>
        <p:txBody>
          <a:bodyPr/>
          <a:lstStyle/>
          <a:p>
            <a:fld id="{DCDA61CE-80EA-4586-AB04-B95879AC9DE7}" type="slidenum">
              <a:rPr lang="en-US" sz="1800" b="1" smtClean="0">
                <a:solidFill>
                  <a:schemeClr val="tx1"/>
                </a:solidFill>
              </a:rPr>
              <a:t>21</a:t>
            </a:fld>
            <a:endParaRPr lang="en-US" sz="1800" b="1" dirty="0">
              <a:solidFill>
                <a:schemeClr val="tx1"/>
              </a:solidFill>
            </a:endParaRPr>
          </a:p>
        </p:txBody>
      </p:sp>
      <p:sp>
        <p:nvSpPr>
          <p:cNvPr id="6" name="Rectangle 5"/>
          <p:cNvSpPr/>
          <p:nvPr/>
        </p:nvSpPr>
        <p:spPr>
          <a:xfrm>
            <a:off x="2499919" y="233886"/>
            <a:ext cx="6180743" cy="5389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Times New Roman" panose="02020603050405020304" pitchFamily="18" charset="0"/>
                <a:cs typeface="Times New Roman" panose="02020603050405020304" pitchFamily="18" charset="0"/>
              </a:rPr>
              <a:t>RESULT &amp; DISCUSSION </a:t>
            </a:r>
            <a:r>
              <a:rPr lang="en-US" sz="3200" b="1" dirty="0">
                <a:solidFill>
                  <a:schemeClr val="tx1"/>
                </a:solidFill>
                <a:latin typeface="Times New Roman" panose="02020603050405020304" pitchFamily="18" charset="0"/>
                <a:cs typeface="Times New Roman" panose="02020603050405020304" pitchFamily="18" charset="0"/>
              </a:rPr>
              <a:t>(Cond..)</a:t>
            </a:r>
          </a:p>
        </p:txBody>
      </p:sp>
      <p:pic>
        <p:nvPicPr>
          <p:cNvPr id="2" name="Picture 1">
            <a:extLst>
              <a:ext uri="{FF2B5EF4-FFF2-40B4-BE49-F238E27FC236}">
                <a16:creationId xmlns:a16="http://schemas.microsoft.com/office/drawing/2014/main" id="{F55AC815-8197-49A8-9B2D-737E2A892699}"/>
              </a:ext>
            </a:extLst>
          </p:cNvPr>
          <p:cNvPicPr>
            <a:picLocks noChangeAspect="1"/>
          </p:cNvPicPr>
          <p:nvPr/>
        </p:nvPicPr>
        <p:blipFill>
          <a:blip r:embed="rId2"/>
          <a:stretch>
            <a:fillRect/>
          </a:stretch>
        </p:blipFill>
        <p:spPr>
          <a:xfrm>
            <a:off x="796792" y="1614246"/>
            <a:ext cx="7619665" cy="4102171"/>
          </a:xfrm>
          <a:prstGeom prst="rect">
            <a:avLst/>
          </a:prstGeom>
        </p:spPr>
      </p:pic>
      <p:sp>
        <p:nvSpPr>
          <p:cNvPr id="7" name="Rectangle 6">
            <a:extLst>
              <a:ext uri="{FF2B5EF4-FFF2-40B4-BE49-F238E27FC236}">
                <a16:creationId xmlns:a16="http://schemas.microsoft.com/office/drawing/2014/main" id="{BA234461-63CE-4F89-9D34-14DA79892EEB}"/>
              </a:ext>
            </a:extLst>
          </p:cNvPr>
          <p:cNvSpPr/>
          <p:nvPr/>
        </p:nvSpPr>
        <p:spPr>
          <a:xfrm>
            <a:off x="910856" y="1141583"/>
            <a:ext cx="5318494" cy="4562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latin typeface="Times New Roman" panose="02020603050405020304" pitchFamily="18" charset="0"/>
                <a:cs typeface="Times New Roman" panose="02020603050405020304" pitchFamily="18" charset="0"/>
              </a:rPr>
              <a:t>BEST PARAMETERS FOR EACH MODEL </a:t>
            </a:r>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94767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409364" y="6492875"/>
            <a:ext cx="683339" cy="365125"/>
          </a:xfrm>
        </p:spPr>
        <p:txBody>
          <a:bodyPr/>
          <a:lstStyle/>
          <a:p>
            <a:fld id="{DCDA61CE-80EA-4586-AB04-B95879AC9DE7}" type="slidenum">
              <a:rPr lang="en-US" sz="1800" b="1" smtClean="0">
                <a:solidFill>
                  <a:schemeClr val="tx1"/>
                </a:solidFill>
              </a:rPr>
              <a:t>22</a:t>
            </a:fld>
            <a:endParaRPr lang="en-US" sz="1800" b="1" dirty="0">
              <a:solidFill>
                <a:schemeClr val="tx1"/>
              </a:solidFill>
            </a:endParaRPr>
          </a:p>
        </p:txBody>
      </p:sp>
      <p:sp>
        <p:nvSpPr>
          <p:cNvPr id="6" name="Rectangle 5"/>
          <p:cNvSpPr/>
          <p:nvPr/>
        </p:nvSpPr>
        <p:spPr>
          <a:xfrm>
            <a:off x="2499919" y="233886"/>
            <a:ext cx="6180743" cy="5389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Times New Roman" panose="02020603050405020304" pitchFamily="18" charset="0"/>
                <a:cs typeface="Times New Roman" panose="02020603050405020304" pitchFamily="18" charset="0"/>
              </a:rPr>
              <a:t>RESULT &amp; DISCUSSION </a:t>
            </a:r>
            <a:r>
              <a:rPr lang="en-US" sz="3200" b="1" dirty="0">
                <a:solidFill>
                  <a:schemeClr val="tx1"/>
                </a:solidFill>
                <a:latin typeface="Times New Roman" panose="02020603050405020304" pitchFamily="18" charset="0"/>
                <a:cs typeface="Times New Roman" panose="02020603050405020304" pitchFamily="18" charset="0"/>
              </a:rPr>
              <a:t>(Cond..)</a:t>
            </a:r>
          </a:p>
        </p:txBody>
      </p:sp>
      <p:sp>
        <p:nvSpPr>
          <p:cNvPr id="7" name="Rectangle 6">
            <a:extLst>
              <a:ext uri="{FF2B5EF4-FFF2-40B4-BE49-F238E27FC236}">
                <a16:creationId xmlns:a16="http://schemas.microsoft.com/office/drawing/2014/main" id="{BA234461-63CE-4F89-9D34-14DA79892EEB}"/>
              </a:ext>
            </a:extLst>
          </p:cNvPr>
          <p:cNvSpPr/>
          <p:nvPr/>
        </p:nvSpPr>
        <p:spPr>
          <a:xfrm>
            <a:off x="910855" y="1141583"/>
            <a:ext cx="5975719" cy="4562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latin typeface="Times New Roman" panose="02020603050405020304" pitchFamily="18" charset="0"/>
                <a:cs typeface="Times New Roman" panose="02020603050405020304" pitchFamily="18" charset="0"/>
              </a:rPr>
              <a:t>PERFORMANCE METRICS OF THE CLASSIFIERS </a:t>
            </a:r>
            <a:endParaRPr lang="en-US" sz="2000" b="1"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E4423E09-51EE-40B8-A8DE-2E7386CAE823}"/>
              </a:ext>
            </a:extLst>
          </p:cNvPr>
          <p:cNvPicPr>
            <a:picLocks noChangeAspect="1"/>
          </p:cNvPicPr>
          <p:nvPr/>
        </p:nvPicPr>
        <p:blipFill>
          <a:blip r:embed="rId2"/>
          <a:stretch>
            <a:fillRect/>
          </a:stretch>
        </p:blipFill>
        <p:spPr>
          <a:xfrm>
            <a:off x="731241" y="1597867"/>
            <a:ext cx="9083318" cy="3126377"/>
          </a:xfrm>
          <a:prstGeom prst="rect">
            <a:avLst/>
          </a:prstGeom>
        </p:spPr>
      </p:pic>
    </p:spTree>
    <p:extLst>
      <p:ext uri="{BB962C8B-B14F-4D97-AF65-F5344CB8AC3E}">
        <p14:creationId xmlns:p14="http://schemas.microsoft.com/office/powerpoint/2010/main" val="18959895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409364" y="6492875"/>
            <a:ext cx="683339" cy="365125"/>
          </a:xfrm>
        </p:spPr>
        <p:txBody>
          <a:bodyPr/>
          <a:lstStyle/>
          <a:p>
            <a:fld id="{DCDA61CE-80EA-4586-AB04-B95879AC9DE7}" type="slidenum">
              <a:rPr lang="en-US" sz="1800" b="1" smtClean="0">
                <a:solidFill>
                  <a:schemeClr val="tx1"/>
                </a:solidFill>
              </a:rPr>
              <a:t>23</a:t>
            </a:fld>
            <a:endParaRPr lang="en-US" sz="1800" b="1" dirty="0">
              <a:solidFill>
                <a:schemeClr val="tx1"/>
              </a:solidFill>
            </a:endParaRPr>
          </a:p>
        </p:txBody>
      </p:sp>
      <p:sp>
        <p:nvSpPr>
          <p:cNvPr id="6" name="Rectangle 5"/>
          <p:cNvSpPr/>
          <p:nvPr/>
        </p:nvSpPr>
        <p:spPr>
          <a:xfrm>
            <a:off x="2499919" y="233886"/>
            <a:ext cx="6180743" cy="5389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Times New Roman" panose="02020603050405020304" pitchFamily="18" charset="0"/>
                <a:cs typeface="Times New Roman" panose="02020603050405020304" pitchFamily="18" charset="0"/>
              </a:rPr>
              <a:t>RESULT &amp; DISCUSSION </a:t>
            </a:r>
            <a:r>
              <a:rPr lang="en-US" sz="3200" b="1" dirty="0">
                <a:solidFill>
                  <a:schemeClr val="tx1"/>
                </a:solidFill>
                <a:latin typeface="Times New Roman" panose="02020603050405020304" pitchFamily="18" charset="0"/>
                <a:cs typeface="Times New Roman" panose="02020603050405020304" pitchFamily="18" charset="0"/>
              </a:rPr>
              <a:t>(Cond..)</a:t>
            </a:r>
          </a:p>
        </p:txBody>
      </p:sp>
      <p:sp>
        <p:nvSpPr>
          <p:cNvPr id="7" name="Rectangle 6">
            <a:extLst>
              <a:ext uri="{FF2B5EF4-FFF2-40B4-BE49-F238E27FC236}">
                <a16:creationId xmlns:a16="http://schemas.microsoft.com/office/drawing/2014/main" id="{BA234461-63CE-4F89-9D34-14DA79892EEB}"/>
              </a:ext>
            </a:extLst>
          </p:cNvPr>
          <p:cNvSpPr/>
          <p:nvPr/>
        </p:nvSpPr>
        <p:spPr>
          <a:xfrm>
            <a:off x="153532" y="988389"/>
            <a:ext cx="6378241" cy="4562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latin typeface="Times New Roman" panose="02020603050405020304" pitchFamily="18" charset="0"/>
                <a:cs typeface="Times New Roman" panose="02020603050405020304" pitchFamily="18" charset="0"/>
              </a:rPr>
              <a:t>SHAPLEY ADDITIVE EXPLANATIONS (SHAP)</a:t>
            </a:r>
            <a:endParaRPr lang="en-US" sz="2000" b="1"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2C06CD6-93B8-4474-B44C-50CB7F6A65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3238" y="988389"/>
            <a:ext cx="4666126" cy="5015235"/>
          </a:xfrm>
          <a:prstGeom prst="rect">
            <a:avLst/>
          </a:prstGeom>
        </p:spPr>
      </p:pic>
      <p:sp>
        <p:nvSpPr>
          <p:cNvPr id="9" name="Content Placeholder 2">
            <a:extLst>
              <a:ext uri="{FF2B5EF4-FFF2-40B4-BE49-F238E27FC236}">
                <a16:creationId xmlns:a16="http://schemas.microsoft.com/office/drawing/2014/main" id="{05C52656-3C2D-450D-BA79-5F58F1A8530F}"/>
              </a:ext>
            </a:extLst>
          </p:cNvPr>
          <p:cNvSpPr txBox="1">
            <a:spLocks/>
          </p:cNvSpPr>
          <p:nvPr/>
        </p:nvSpPr>
        <p:spPr>
          <a:xfrm>
            <a:off x="153532" y="1660202"/>
            <a:ext cx="6378241" cy="5015235"/>
          </a:xfrm>
          <a:prstGeom prst="rect">
            <a:avLst/>
          </a:prstGeom>
        </p:spPr>
        <p:style>
          <a:lnRef idx="2">
            <a:schemeClr val="accent3"/>
          </a:lnRef>
          <a:fillRef idx="1">
            <a:schemeClr val="lt1"/>
          </a:fillRef>
          <a:effectRef idx="0">
            <a:schemeClr val="accent3"/>
          </a:effectRef>
          <a:fontRef idx="minor">
            <a:schemeClr val="dk1"/>
          </a:fontRef>
        </p:style>
        <p:txBody>
          <a:bodyP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lnSpc>
                <a:spcPct val="150000"/>
              </a:lnSpc>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SHAP (Shapley Additive Explanations): </a:t>
            </a:r>
            <a:r>
              <a:rPr lang="en-US" dirty="0">
                <a:latin typeface="Times New Roman" panose="02020603050405020304" pitchFamily="18" charset="0"/>
                <a:cs typeface="Times New Roman" panose="02020603050405020304" pitchFamily="18" charset="0"/>
              </a:rPr>
              <a:t>This section explains the SHAP values for the top model, showing how each feature impacts predictions. The SHAP summary plot (Fig. 3) ranks features by importance on the y-axis, with SHAP values on the x-axis. Positive values push predictions toward class '1,' while negative values steer them toward class '0.' </a:t>
            </a:r>
            <a:r>
              <a:rPr lang="en-US" b="1" dirty="0">
                <a:latin typeface="Times New Roman" panose="02020603050405020304" pitchFamily="18" charset="0"/>
                <a:cs typeface="Times New Roman" panose="02020603050405020304" pitchFamily="18" charset="0"/>
              </a:rPr>
              <a:t>"Polyuria" is the</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most impactful feature</a:t>
            </a:r>
            <a:r>
              <a:rPr lang="en-US" dirty="0">
                <a:latin typeface="Times New Roman" panose="02020603050405020304" pitchFamily="18" charset="0"/>
                <a:cs typeface="Times New Roman" panose="02020603050405020304" pitchFamily="18" charset="0"/>
              </a:rPr>
              <a:t>, followed by "Gender" and "Polydipsia," while "Obesity" and "</a:t>
            </a:r>
            <a:r>
              <a:rPr lang="en-US" b="1" dirty="0">
                <a:latin typeface="Times New Roman" panose="02020603050405020304" pitchFamily="18" charset="0"/>
                <a:cs typeface="Times New Roman" panose="02020603050405020304" pitchFamily="18" charset="0"/>
              </a:rPr>
              <a:t>Weakness" have less influence, </a:t>
            </a:r>
            <a:r>
              <a:rPr lang="en-US" dirty="0">
                <a:latin typeface="Times New Roman" panose="02020603050405020304" pitchFamily="18" charset="0"/>
                <a:cs typeface="Times New Roman" panose="02020603050405020304" pitchFamily="18" charset="0"/>
              </a:rPr>
              <a:t>clearly indicating feature relevance in the model.</a:t>
            </a:r>
          </a:p>
          <a:p>
            <a:pPr algn="just">
              <a:lnSpc>
                <a:spcPct val="150000"/>
              </a:lnSpc>
              <a:buFont typeface="Wingdings" panose="05000000000000000000" pitchFamily="2" charset="2"/>
              <a:buChar char="v"/>
            </a:pP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5BA68DEF-CF21-495C-92CA-203D2B35AEE9}"/>
              </a:ext>
            </a:extLst>
          </p:cNvPr>
          <p:cNvSpPr txBox="1"/>
          <p:nvPr/>
        </p:nvSpPr>
        <p:spPr>
          <a:xfrm>
            <a:off x="7339254" y="6063583"/>
            <a:ext cx="3085140" cy="369332"/>
          </a:xfrm>
          <a:prstGeom prst="rect">
            <a:avLst/>
          </a:prstGeom>
          <a:noFill/>
        </p:spPr>
        <p:txBody>
          <a:bodyPr wrap="none" rtlCol="0">
            <a:spAutoFit/>
          </a:bodyPr>
          <a:lstStyle/>
          <a:p>
            <a:r>
              <a:rPr lang="en-US" dirty="0">
                <a:solidFill>
                  <a:srgbClr val="FF0000"/>
                </a:solidFill>
                <a:latin typeface="Times New Roman" panose="02020603050405020304" pitchFamily="18" charset="0"/>
                <a:cs typeface="Times New Roman" panose="02020603050405020304" pitchFamily="18" charset="0"/>
              </a:rPr>
              <a:t>Fig 3: SHAP Explanation (RF)</a:t>
            </a:r>
          </a:p>
        </p:txBody>
      </p:sp>
    </p:spTree>
    <p:extLst>
      <p:ext uri="{BB962C8B-B14F-4D97-AF65-F5344CB8AC3E}">
        <p14:creationId xmlns:p14="http://schemas.microsoft.com/office/powerpoint/2010/main" val="6624507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409364" y="6492875"/>
            <a:ext cx="683339" cy="365125"/>
          </a:xfrm>
        </p:spPr>
        <p:txBody>
          <a:bodyPr/>
          <a:lstStyle/>
          <a:p>
            <a:fld id="{DCDA61CE-80EA-4586-AB04-B95879AC9DE7}" type="slidenum">
              <a:rPr lang="en-US" sz="1800" b="1" smtClean="0">
                <a:solidFill>
                  <a:schemeClr val="tx1"/>
                </a:solidFill>
              </a:rPr>
              <a:t>24</a:t>
            </a:fld>
            <a:endParaRPr lang="en-US" sz="1800" b="1" dirty="0">
              <a:solidFill>
                <a:schemeClr val="tx1"/>
              </a:solidFill>
            </a:endParaRPr>
          </a:p>
        </p:txBody>
      </p:sp>
      <p:sp>
        <p:nvSpPr>
          <p:cNvPr id="6" name="Rectangle 5"/>
          <p:cNvSpPr/>
          <p:nvPr/>
        </p:nvSpPr>
        <p:spPr>
          <a:xfrm>
            <a:off x="2499919" y="233886"/>
            <a:ext cx="6180743" cy="5389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Times New Roman" panose="02020603050405020304" pitchFamily="18" charset="0"/>
                <a:cs typeface="Times New Roman" panose="02020603050405020304" pitchFamily="18" charset="0"/>
              </a:rPr>
              <a:t>RESULT &amp; DISCUSSION </a:t>
            </a:r>
            <a:r>
              <a:rPr lang="en-US" sz="3200" b="1" dirty="0">
                <a:solidFill>
                  <a:schemeClr val="tx1"/>
                </a:solidFill>
                <a:latin typeface="Times New Roman" panose="02020603050405020304" pitchFamily="18" charset="0"/>
                <a:cs typeface="Times New Roman" panose="02020603050405020304" pitchFamily="18" charset="0"/>
              </a:rPr>
              <a:t>(Cond..)</a:t>
            </a:r>
          </a:p>
        </p:txBody>
      </p:sp>
      <p:sp>
        <p:nvSpPr>
          <p:cNvPr id="7" name="Rectangle 6">
            <a:extLst>
              <a:ext uri="{FF2B5EF4-FFF2-40B4-BE49-F238E27FC236}">
                <a16:creationId xmlns:a16="http://schemas.microsoft.com/office/drawing/2014/main" id="{BA234461-63CE-4F89-9D34-14DA79892EEB}"/>
              </a:ext>
            </a:extLst>
          </p:cNvPr>
          <p:cNvSpPr/>
          <p:nvPr/>
        </p:nvSpPr>
        <p:spPr>
          <a:xfrm>
            <a:off x="153532" y="988389"/>
            <a:ext cx="6378241" cy="4562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latin typeface="Times New Roman" panose="02020603050405020304" pitchFamily="18" charset="0"/>
                <a:cs typeface="Times New Roman" panose="02020603050405020304" pitchFamily="18" charset="0"/>
              </a:rPr>
              <a:t>LIME (Local Interpretable Model-agnostic Explanations)</a:t>
            </a:r>
            <a:endParaRPr lang="en-US" sz="2000" b="1" dirty="0">
              <a:solidFill>
                <a:schemeClr val="tx1"/>
              </a:solidFill>
              <a:latin typeface="Times New Roman" panose="02020603050405020304" pitchFamily="18" charset="0"/>
              <a:cs typeface="Times New Roman" panose="02020603050405020304" pitchFamily="18" charset="0"/>
            </a:endParaRPr>
          </a:p>
        </p:txBody>
      </p:sp>
      <p:sp>
        <p:nvSpPr>
          <p:cNvPr id="9" name="Content Placeholder 2">
            <a:extLst>
              <a:ext uri="{FF2B5EF4-FFF2-40B4-BE49-F238E27FC236}">
                <a16:creationId xmlns:a16="http://schemas.microsoft.com/office/drawing/2014/main" id="{05C52656-3C2D-450D-BA79-5F58F1A8530F}"/>
              </a:ext>
            </a:extLst>
          </p:cNvPr>
          <p:cNvSpPr txBox="1">
            <a:spLocks/>
          </p:cNvSpPr>
          <p:nvPr/>
        </p:nvSpPr>
        <p:spPr>
          <a:xfrm>
            <a:off x="153532" y="1660202"/>
            <a:ext cx="6378241" cy="5015235"/>
          </a:xfrm>
          <a:prstGeom prst="rect">
            <a:avLst/>
          </a:prstGeom>
        </p:spPr>
        <p:style>
          <a:lnRef idx="2">
            <a:schemeClr val="accent3"/>
          </a:lnRef>
          <a:fillRef idx="1">
            <a:schemeClr val="lt1"/>
          </a:fillRef>
          <a:effectRef idx="0">
            <a:schemeClr val="accent3"/>
          </a:effectRef>
          <a:fontRef idx="minor">
            <a:schemeClr val="dk1"/>
          </a:fontRef>
        </p:style>
        <p:txBody>
          <a:bodyP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This section explores how LIME helps interpret the Random Forest model’s predictions. The LIME plot (Fig. 4) shows each feature's influence, with attribution scores on the x-axis. Bars extending right contribute positively, pushing the prediction towards class '1,' while bars on the left contribute negatively, steering it towards class '0.' After scaling, scores range from 0 to 1. Features like “Polyuria &lt;= 0.00” and “Gender &lt;= 1.00” steer predictions towards class '0,' while “Polydipsia &lt;= 1.00” moves it towards class '1.' The RF model achieves high accuracy with a 0.98 probability for class '0.'</a:t>
            </a:r>
          </a:p>
          <a:p>
            <a:pPr algn="just">
              <a:lnSpc>
                <a:spcPct val="150000"/>
              </a:lnSpc>
              <a:buFont typeface="Wingdings" panose="05000000000000000000" pitchFamily="2" charset="2"/>
              <a:buChar char="v"/>
            </a:pP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5BA68DEF-CF21-495C-92CA-203D2B35AEE9}"/>
              </a:ext>
            </a:extLst>
          </p:cNvPr>
          <p:cNvSpPr txBox="1"/>
          <p:nvPr/>
        </p:nvSpPr>
        <p:spPr>
          <a:xfrm>
            <a:off x="7548804" y="5806408"/>
            <a:ext cx="3018775" cy="369332"/>
          </a:xfrm>
          <a:prstGeom prst="rect">
            <a:avLst/>
          </a:prstGeom>
          <a:noFill/>
        </p:spPr>
        <p:txBody>
          <a:bodyPr wrap="none" rtlCol="0">
            <a:spAutoFit/>
          </a:bodyPr>
          <a:lstStyle/>
          <a:p>
            <a:r>
              <a:rPr lang="en-US" dirty="0">
                <a:solidFill>
                  <a:srgbClr val="FF0000"/>
                </a:solidFill>
                <a:latin typeface="Times New Roman" panose="02020603050405020304" pitchFamily="18" charset="0"/>
                <a:cs typeface="Times New Roman" panose="02020603050405020304" pitchFamily="18" charset="0"/>
              </a:rPr>
              <a:t>Fig 4: LIME Explanation (RF)</a:t>
            </a:r>
          </a:p>
        </p:txBody>
      </p:sp>
      <p:pic>
        <p:nvPicPr>
          <p:cNvPr id="3" name="Picture 2">
            <a:extLst>
              <a:ext uri="{FF2B5EF4-FFF2-40B4-BE49-F238E27FC236}">
                <a16:creationId xmlns:a16="http://schemas.microsoft.com/office/drawing/2014/main" id="{3F49D23B-BD29-45CC-9772-11F8C46AD1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10350" y="1234440"/>
            <a:ext cx="5086350" cy="4389120"/>
          </a:xfrm>
          <a:prstGeom prst="rect">
            <a:avLst/>
          </a:prstGeom>
        </p:spPr>
      </p:pic>
    </p:spTree>
    <p:extLst>
      <p:ext uri="{BB962C8B-B14F-4D97-AF65-F5344CB8AC3E}">
        <p14:creationId xmlns:p14="http://schemas.microsoft.com/office/powerpoint/2010/main" val="19003276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409364" y="6492875"/>
            <a:ext cx="683339" cy="365125"/>
          </a:xfrm>
        </p:spPr>
        <p:txBody>
          <a:bodyPr/>
          <a:lstStyle/>
          <a:p>
            <a:fld id="{DCDA61CE-80EA-4586-AB04-B95879AC9DE7}" type="slidenum">
              <a:rPr lang="en-US" sz="1800" b="1" smtClean="0">
                <a:solidFill>
                  <a:schemeClr val="tx1"/>
                </a:solidFill>
              </a:rPr>
              <a:t>25</a:t>
            </a:fld>
            <a:endParaRPr lang="en-US" sz="1800" b="1" dirty="0">
              <a:solidFill>
                <a:schemeClr val="tx1"/>
              </a:solidFill>
            </a:endParaRPr>
          </a:p>
        </p:txBody>
      </p:sp>
      <p:sp>
        <p:nvSpPr>
          <p:cNvPr id="6" name="Rectangle 5"/>
          <p:cNvSpPr/>
          <p:nvPr/>
        </p:nvSpPr>
        <p:spPr>
          <a:xfrm>
            <a:off x="2499919" y="233886"/>
            <a:ext cx="6180743" cy="5389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Times New Roman" panose="02020603050405020304" pitchFamily="18" charset="0"/>
                <a:cs typeface="Times New Roman" panose="02020603050405020304" pitchFamily="18" charset="0"/>
              </a:rPr>
              <a:t>RESULT &amp; DISCUSSION (Cond..)</a:t>
            </a:r>
            <a:endParaRPr lang="en-US" sz="3200" b="1" dirty="0">
              <a:solidFill>
                <a:schemeClr val="tx1"/>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BA234461-63CE-4F89-9D34-14DA79892EEB}"/>
              </a:ext>
            </a:extLst>
          </p:cNvPr>
          <p:cNvSpPr/>
          <p:nvPr/>
        </p:nvSpPr>
        <p:spPr>
          <a:xfrm>
            <a:off x="153532" y="988389"/>
            <a:ext cx="6378241" cy="4562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latin typeface="Times New Roman" panose="02020603050405020304" pitchFamily="18" charset="0"/>
                <a:cs typeface="Times New Roman" panose="02020603050405020304" pitchFamily="18" charset="0"/>
              </a:rPr>
              <a:t>XAI FOR FEATURE IMPORTANCE</a:t>
            </a:r>
            <a:endParaRPr lang="en-US" sz="2000" b="1" dirty="0">
              <a:solidFill>
                <a:schemeClr val="tx1"/>
              </a:solidFill>
              <a:latin typeface="Times New Roman" panose="02020603050405020304" pitchFamily="18" charset="0"/>
              <a:cs typeface="Times New Roman" panose="02020603050405020304" pitchFamily="18" charset="0"/>
            </a:endParaRPr>
          </a:p>
        </p:txBody>
      </p:sp>
      <p:sp>
        <p:nvSpPr>
          <p:cNvPr id="9" name="Content Placeholder 2">
            <a:extLst>
              <a:ext uri="{FF2B5EF4-FFF2-40B4-BE49-F238E27FC236}">
                <a16:creationId xmlns:a16="http://schemas.microsoft.com/office/drawing/2014/main" id="{05C52656-3C2D-450D-BA79-5F58F1A8530F}"/>
              </a:ext>
            </a:extLst>
          </p:cNvPr>
          <p:cNvSpPr txBox="1">
            <a:spLocks/>
          </p:cNvSpPr>
          <p:nvPr/>
        </p:nvSpPr>
        <p:spPr>
          <a:xfrm>
            <a:off x="153532" y="1660202"/>
            <a:ext cx="6378241" cy="5015235"/>
          </a:xfrm>
          <a:prstGeom prst="rect">
            <a:avLst/>
          </a:prstGeom>
        </p:spPr>
        <p:style>
          <a:lnRef idx="2">
            <a:schemeClr val="accent3"/>
          </a:lnRef>
          <a:fillRef idx="1">
            <a:schemeClr val="lt1"/>
          </a:fillRef>
          <a:effectRef idx="0">
            <a:schemeClr val="accent3"/>
          </a:effectRef>
          <a:fontRef idx="minor">
            <a:schemeClr val="dk1"/>
          </a:fontRef>
        </p:style>
        <p:txBody>
          <a:bodyP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lnSpc>
                <a:spcPct val="150000"/>
              </a:lnSpc>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Importance by Coefficients (ICE): </a:t>
            </a:r>
            <a:r>
              <a:rPr lang="en-US" dirty="0">
                <a:latin typeface="Times New Roman" panose="02020603050405020304" pitchFamily="18" charset="0"/>
                <a:cs typeface="Times New Roman" panose="02020603050405020304" pitchFamily="18" charset="0"/>
              </a:rPr>
              <a:t>Feature coefficients indicate their impact on predictions, with larger values driving predictions toward class '1' and smaller values toward class '0.' In Fig. 5, features like "Polyuria," "Polydipsia," "Age," and "Gender" have strong positive coefficients, while "Itching," "Weakness," "Obesity," and "Muscle Stiffness" have lower influence. "Alopecia" and "Polyphagia" show moderate coefficients, suggesting a balanced or slightly negative effect on predictions.</a:t>
            </a: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5BA68DEF-CF21-495C-92CA-203D2B35AEE9}"/>
              </a:ext>
            </a:extLst>
          </p:cNvPr>
          <p:cNvSpPr txBox="1"/>
          <p:nvPr/>
        </p:nvSpPr>
        <p:spPr>
          <a:xfrm>
            <a:off x="8006004" y="5621742"/>
            <a:ext cx="2691763" cy="369332"/>
          </a:xfrm>
          <a:prstGeom prst="rect">
            <a:avLst/>
          </a:prstGeom>
          <a:noFill/>
        </p:spPr>
        <p:txBody>
          <a:bodyPr wrap="none" rtlCol="0">
            <a:spAutoFit/>
          </a:bodyPr>
          <a:lstStyle/>
          <a:p>
            <a:r>
              <a:rPr lang="en-US" dirty="0">
                <a:solidFill>
                  <a:srgbClr val="FF0000"/>
                </a:solidFill>
                <a:latin typeface="Times New Roman" panose="02020603050405020304" pitchFamily="18" charset="0"/>
                <a:cs typeface="Times New Roman" panose="02020603050405020304" pitchFamily="18" charset="0"/>
              </a:rPr>
              <a:t>Fig 5: ICE of RF Classifier</a:t>
            </a:r>
          </a:p>
        </p:txBody>
      </p:sp>
      <p:pic>
        <p:nvPicPr>
          <p:cNvPr id="5" name="Picture 4">
            <a:extLst>
              <a:ext uri="{FF2B5EF4-FFF2-40B4-BE49-F238E27FC236}">
                <a16:creationId xmlns:a16="http://schemas.microsoft.com/office/drawing/2014/main" id="{10C31479-6523-47FE-86B0-8DF8C844D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7364" y="1003634"/>
            <a:ext cx="4572000" cy="4572000"/>
          </a:xfrm>
          <a:prstGeom prst="rect">
            <a:avLst/>
          </a:prstGeom>
        </p:spPr>
      </p:pic>
    </p:spTree>
    <p:extLst>
      <p:ext uri="{BB962C8B-B14F-4D97-AF65-F5344CB8AC3E}">
        <p14:creationId xmlns:p14="http://schemas.microsoft.com/office/powerpoint/2010/main" val="922394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409364" y="6492875"/>
            <a:ext cx="683339" cy="365125"/>
          </a:xfrm>
        </p:spPr>
        <p:txBody>
          <a:bodyPr/>
          <a:lstStyle/>
          <a:p>
            <a:fld id="{DCDA61CE-80EA-4586-AB04-B95879AC9DE7}" type="slidenum">
              <a:rPr lang="en-US" sz="1800" b="1" smtClean="0">
                <a:solidFill>
                  <a:schemeClr val="tx1"/>
                </a:solidFill>
              </a:rPr>
              <a:t>26</a:t>
            </a:fld>
            <a:endParaRPr lang="en-US" sz="1800" b="1" dirty="0">
              <a:solidFill>
                <a:schemeClr val="tx1"/>
              </a:solidFill>
            </a:endParaRPr>
          </a:p>
        </p:txBody>
      </p:sp>
      <p:sp>
        <p:nvSpPr>
          <p:cNvPr id="6" name="Rectangle 5"/>
          <p:cNvSpPr/>
          <p:nvPr/>
        </p:nvSpPr>
        <p:spPr>
          <a:xfrm>
            <a:off x="2499919" y="233886"/>
            <a:ext cx="6180743" cy="5389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Times New Roman" panose="02020603050405020304" pitchFamily="18" charset="0"/>
                <a:cs typeface="Times New Roman" panose="02020603050405020304" pitchFamily="18" charset="0"/>
              </a:rPr>
              <a:t>RESULT &amp; DISCUSSION (Cond..)</a:t>
            </a:r>
            <a:endParaRPr lang="en-US" sz="3200" b="1" dirty="0">
              <a:solidFill>
                <a:schemeClr val="tx1"/>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BA234461-63CE-4F89-9D34-14DA79892EEB}"/>
              </a:ext>
            </a:extLst>
          </p:cNvPr>
          <p:cNvSpPr/>
          <p:nvPr/>
        </p:nvSpPr>
        <p:spPr>
          <a:xfrm>
            <a:off x="153532" y="988389"/>
            <a:ext cx="6378241" cy="4562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PERMUTATION FEATURE IMPORTANCE (PFI)</a:t>
            </a:r>
            <a:endParaRPr lang="en-US" sz="2000" b="1" dirty="0">
              <a:solidFill>
                <a:schemeClr val="tx1"/>
              </a:solidFill>
              <a:latin typeface="Times New Roman" panose="02020603050405020304" pitchFamily="18" charset="0"/>
              <a:cs typeface="Times New Roman" panose="02020603050405020304" pitchFamily="18" charset="0"/>
            </a:endParaRPr>
          </a:p>
        </p:txBody>
      </p:sp>
      <p:sp>
        <p:nvSpPr>
          <p:cNvPr id="9" name="Content Placeholder 2">
            <a:extLst>
              <a:ext uri="{FF2B5EF4-FFF2-40B4-BE49-F238E27FC236}">
                <a16:creationId xmlns:a16="http://schemas.microsoft.com/office/drawing/2014/main" id="{05C52656-3C2D-450D-BA79-5F58F1A8530F}"/>
              </a:ext>
            </a:extLst>
          </p:cNvPr>
          <p:cNvSpPr txBox="1">
            <a:spLocks/>
          </p:cNvSpPr>
          <p:nvPr/>
        </p:nvSpPr>
        <p:spPr>
          <a:xfrm>
            <a:off x="153532" y="1660202"/>
            <a:ext cx="6378241" cy="5015235"/>
          </a:xfrm>
          <a:prstGeom prst="rect">
            <a:avLst/>
          </a:prstGeom>
        </p:spPr>
        <p:style>
          <a:lnRef idx="2">
            <a:schemeClr val="accent3"/>
          </a:lnRef>
          <a:fillRef idx="1">
            <a:schemeClr val="lt1"/>
          </a:fillRef>
          <a:effectRef idx="0">
            <a:schemeClr val="accent3"/>
          </a:effectRef>
          <a:fontRef idx="minor">
            <a:schemeClr val="dk1"/>
          </a:fontRef>
        </p:style>
        <p:txBody>
          <a:bodyP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lnSpc>
                <a:spcPct val="150000"/>
              </a:lnSpc>
              <a:buFont typeface="Wingdings" panose="05000000000000000000" pitchFamily="2" charset="2"/>
              <a:buChar char="v"/>
            </a:pPr>
            <a:r>
              <a:rPr lang="en-US" b="1" dirty="0">
                <a:solidFill>
                  <a:schemeClr val="tx1"/>
                </a:solidFill>
                <a:latin typeface="Times New Roman" panose="02020603050405020304" pitchFamily="18" charset="0"/>
                <a:cs typeface="Times New Roman" panose="02020603050405020304" pitchFamily="18" charset="0"/>
              </a:rPr>
              <a:t>PFI</a:t>
            </a:r>
            <a:r>
              <a:rPr lang="en-US" dirty="0">
                <a:solidFill>
                  <a:schemeClr val="tx1"/>
                </a:solidFill>
                <a:latin typeface="Times New Roman" panose="02020603050405020304" pitchFamily="18" charset="0"/>
                <a:cs typeface="Times New Roman" panose="02020603050405020304" pitchFamily="18" charset="0"/>
              </a:rPr>
              <a:t> evaluates each feature's significance by measuring changes in model performance when feature values are shuffled. In Fig. 6, a bar plot shows the importance of features in the RF model, with values from 0.00 to 0.15. Features like "Itching," "Obesity," "Muscle Stiffness," and "Weakness" show low importance, while "Polyuria," "Polydipsia," "Gender," and "Age" are most influential, emphasizing their key role in predictions.</a:t>
            </a: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5BA68DEF-CF21-495C-92CA-203D2B35AEE9}"/>
              </a:ext>
            </a:extLst>
          </p:cNvPr>
          <p:cNvSpPr txBox="1"/>
          <p:nvPr/>
        </p:nvSpPr>
        <p:spPr>
          <a:xfrm>
            <a:off x="8006004" y="5621742"/>
            <a:ext cx="2653290" cy="369332"/>
          </a:xfrm>
          <a:prstGeom prst="rect">
            <a:avLst/>
          </a:prstGeom>
          <a:noFill/>
        </p:spPr>
        <p:txBody>
          <a:bodyPr wrap="none" rtlCol="0">
            <a:spAutoFit/>
          </a:bodyPr>
          <a:lstStyle/>
          <a:p>
            <a:r>
              <a:rPr lang="en-US" dirty="0">
                <a:solidFill>
                  <a:srgbClr val="FF0000"/>
                </a:solidFill>
                <a:latin typeface="Times New Roman" panose="02020603050405020304" pitchFamily="18" charset="0"/>
                <a:cs typeface="Times New Roman" panose="02020603050405020304" pitchFamily="18" charset="0"/>
              </a:rPr>
              <a:t>Fig 6: PFI of RF Classifier</a:t>
            </a:r>
          </a:p>
        </p:txBody>
      </p:sp>
      <p:pic>
        <p:nvPicPr>
          <p:cNvPr id="3" name="Picture 2">
            <a:extLst>
              <a:ext uri="{FF2B5EF4-FFF2-40B4-BE49-F238E27FC236}">
                <a16:creationId xmlns:a16="http://schemas.microsoft.com/office/drawing/2014/main" id="{5406930C-595E-4ECB-BDC7-151CE1EF13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7364" y="911301"/>
            <a:ext cx="4572000" cy="4572000"/>
          </a:xfrm>
          <a:prstGeom prst="rect">
            <a:avLst/>
          </a:prstGeom>
        </p:spPr>
      </p:pic>
    </p:spTree>
    <p:extLst>
      <p:ext uri="{BB962C8B-B14F-4D97-AF65-F5344CB8AC3E}">
        <p14:creationId xmlns:p14="http://schemas.microsoft.com/office/powerpoint/2010/main" val="26705987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409364" y="6492875"/>
            <a:ext cx="683339" cy="365125"/>
          </a:xfrm>
        </p:spPr>
        <p:txBody>
          <a:bodyPr/>
          <a:lstStyle/>
          <a:p>
            <a:fld id="{DCDA61CE-80EA-4586-AB04-B95879AC9DE7}" type="slidenum">
              <a:rPr lang="en-US" sz="1800" b="1" smtClean="0">
                <a:solidFill>
                  <a:schemeClr val="tx1"/>
                </a:solidFill>
              </a:rPr>
              <a:t>27</a:t>
            </a:fld>
            <a:endParaRPr lang="en-US" sz="1800" b="1" dirty="0">
              <a:solidFill>
                <a:schemeClr val="tx1"/>
              </a:solidFill>
            </a:endParaRPr>
          </a:p>
        </p:txBody>
      </p:sp>
      <p:sp>
        <p:nvSpPr>
          <p:cNvPr id="6" name="Rectangle 5"/>
          <p:cNvSpPr/>
          <p:nvPr/>
        </p:nvSpPr>
        <p:spPr>
          <a:xfrm>
            <a:off x="2499919" y="233886"/>
            <a:ext cx="6180743" cy="5389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Times New Roman" panose="02020603050405020304" pitchFamily="18" charset="0"/>
                <a:cs typeface="Times New Roman" panose="02020603050405020304" pitchFamily="18" charset="0"/>
              </a:rPr>
              <a:t>RESULT &amp; DISCUSSION (Cond..)</a:t>
            </a:r>
            <a:endParaRPr lang="en-US" sz="3200" b="1" dirty="0">
              <a:solidFill>
                <a:schemeClr val="tx1"/>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BA234461-63CE-4F89-9D34-14DA79892EEB}"/>
              </a:ext>
            </a:extLst>
          </p:cNvPr>
          <p:cNvSpPr/>
          <p:nvPr/>
        </p:nvSpPr>
        <p:spPr>
          <a:xfrm>
            <a:off x="153532" y="988389"/>
            <a:ext cx="6378241" cy="4562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latin typeface="Times New Roman" panose="02020603050405020304" pitchFamily="18" charset="0"/>
                <a:cs typeface="Times New Roman" panose="02020603050405020304" pitchFamily="18" charset="0"/>
              </a:rPr>
              <a:t>INTEGRATED GRADIENTS (IG)</a:t>
            </a:r>
            <a:endParaRPr lang="en-US" sz="2000" b="1" dirty="0">
              <a:solidFill>
                <a:schemeClr val="tx1"/>
              </a:solidFill>
              <a:latin typeface="Times New Roman" panose="02020603050405020304" pitchFamily="18" charset="0"/>
              <a:cs typeface="Times New Roman" panose="02020603050405020304" pitchFamily="18" charset="0"/>
            </a:endParaRPr>
          </a:p>
        </p:txBody>
      </p:sp>
      <p:sp>
        <p:nvSpPr>
          <p:cNvPr id="9" name="Content Placeholder 2">
            <a:extLst>
              <a:ext uri="{FF2B5EF4-FFF2-40B4-BE49-F238E27FC236}">
                <a16:creationId xmlns:a16="http://schemas.microsoft.com/office/drawing/2014/main" id="{05C52656-3C2D-450D-BA79-5F58F1A8530F}"/>
              </a:ext>
            </a:extLst>
          </p:cNvPr>
          <p:cNvSpPr txBox="1">
            <a:spLocks/>
          </p:cNvSpPr>
          <p:nvPr/>
        </p:nvSpPr>
        <p:spPr>
          <a:xfrm>
            <a:off x="153532" y="1660202"/>
            <a:ext cx="6378241" cy="5015235"/>
          </a:xfrm>
          <a:prstGeom prst="rect">
            <a:avLst/>
          </a:prstGeom>
        </p:spPr>
        <p:style>
          <a:lnRef idx="2">
            <a:schemeClr val="accent3"/>
          </a:lnRef>
          <a:fillRef idx="1">
            <a:schemeClr val="lt1"/>
          </a:fillRef>
          <a:effectRef idx="0">
            <a:schemeClr val="accent3"/>
          </a:effectRef>
          <a:fontRef idx="minor">
            <a:schemeClr val="dk1"/>
          </a:fontRef>
        </p:style>
        <p:txBody>
          <a:bodyP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lnSpc>
                <a:spcPct val="150000"/>
              </a:lnSpc>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IG plots show how each feature influences the RF model’s predictions, with </a:t>
            </a:r>
            <a:r>
              <a:rPr lang="en-US" i="1" dirty="0">
                <a:solidFill>
                  <a:schemeClr val="tx1"/>
                </a:solidFill>
                <a:latin typeface="Times New Roman" panose="02020603050405020304" pitchFamily="18" charset="0"/>
                <a:cs typeface="Times New Roman" panose="02020603050405020304" pitchFamily="18" charset="0"/>
              </a:rPr>
              <a:t>positive bars indicating supportive contributions </a:t>
            </a:r>
            <a:r>
              <a:rPr lang="en-US" dirty="0">
                <a:solidFill>
                  <a:schemeClr val="tx1"/>
                </a:solidFill>
                <a:latin typeface="Times New Roman" panose="02020603050405020304" pitchFamily="18" charset="0"/>
                <a:cs typeface="Times New Roman" panose="02020603050405020304" pitchFamily="18" charset="0"/>
              </a:rPr>
              <a:t>and </a:t>
            </a:r>
            <a:r>
              <a:rPr lang="en-US" i="1" dirty="0">
                <a:solidFill>
                  <a:schemeClr val="tx1"/>
                </a:solidFill>
                <a:latin typeface="Times New Roman" panose="02020603050405020304" pitchFamily="18" charset="0"/>
                <a:cs typeface="Times New Roman" panose="02020603050405020304" pitchFamily="18" charset="0"/>
              </a:rPr>
              <a:t>negative bars showing negative impacts</a:t>
            </a:r>
            <a:r>
              <a:rPr lang="en-US" dirty="0">
                <a:solidFill>
                  <a:schemeClr val="tx1"/>
                </a:solidFill>
                <a:latin typeface="Times New Roman" panose="02020603050405020304" pitchFamily="18" charset="0"/>
                <a:cs typeface="Times New Roman" panose="02020603050405020304" pitchFamily="18" charset="0"/>
              </a:rPr>
              <a:t>. In Fig. 7, features like "</a:t>
            </a:r>
            <a:r>
              <a:rPr lang="en-US" b="1" dirty="0">
                <a:solidFill>
                  <a:schemeClr val="tx1"/>
                </a:solidFill>
                <a:latin typeface="Times New Roman" panose="02020603050405020304" pitchFamily="18" charset="0"/>
                <a:cs typeface="Times New Roman" panose="02020603050405020304" pitchFamily="18" charset="0"/>
              </a:rPr>
              <a:t>Obesity</a:t>
            </a:r>
            <a:r>
              <a:rPr lang="en-US" dirty="0">
                <a:solidFill>
                  <a:schemeClr val="tx1"/>
                </a:solidFill>
                <a:latin typeface="Times New Roman" panose="02020603050405020304" pitchFamily="18" charset="0"/>
                <a:cs typeface="Times New Roman" panose="02020603050405020304" pitchFamily="18" charset="0"/>
              </a:rPr>
              <a:t>," "</a:t>
            </a:r>
            <a:r>
              <a:rPr lang="en-US" b="1" dirty="0">
                <a:solidFill>
                  <a:schemeClr val="tx1"/>
                </a:solidFill>
                <a:latin typeface="Times New Roman" panose="02020603050405020304" pitchFamily="18" charset="0"/>
                <a:cs typeface="Times New Roman" panose="02020603050405020304" pitchFamily="18" charset="0"/>
              </a:rPr>
              <a:t>Alopecia</a:t>
            </a:r>
            <a:r>
              <a:rPr lang="en-US" dirty="0">
                <a:solidFill>
                  <a:schemeClr val="tx1"/>
                </a:solidFill>
                <a:latin typeface="Times New Roman" panose="02020603050405020304" pitchFamily="18" charset="0"/>
                <a:cs typeface="Times New Roman" panose="02020603050405020304" pitchFamily="18" charset="0"/>
              </a:rPr>
              <a:t>," "Muscle Stiffness," "Delayed Healing," "Itching," "Weakness," "Polydipsia," and "Gender" are strong positive contributors. "</a:t>
            </a:r>
            <a:r>
              <a:rPr lang="en-US" b="1" dirty="0">
                <a:solidFill>
                  <a:schemeClr val="tx1"/>
                </a:solidFill>
                <a:latin typeface="Times New Roman" panose="02020603050405020304" pitchFamily="18" charset="0"/>
                <a:cs typeface="Times New Roman" panose="02020603050405020304" pitchFamily="18" charset="0"/>
              </a:rPr>
              <a:t>Age</a:t>
            </a:r>
            <a:r>
              <a:rPr lang="en-US" dirty="0">
                <a:solidFill>
                  <a:schemeClr val="tx1"/>
                </a:solidFill>
                <a:latin typeface="Times New Roman" panose="02020603050405020304" pitchFamily="18" charset="0"/>
                <a:cs typeface="Times New Roman" panose="02020603050405020304" pitchFamily="18" charset="0"/>
              </a:rPr>
              <a:t>" has a moderate impact, while features like "Partial Paresis," "Visual Blurring," and "Polyphagia" have limited effect, indicating neutral influence on class '0' predictions.</a:t>
            </a: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5BA68DEF-CF21-495C-92CA-203D2B35AEE9}"/>
              </a:ext>
            </a:extLst>
          </p:cNvPr>
          <p:cNvSpPr txBox="1"/>
          <p:nvPr/>
        </p:nvSpPr>
        <p:spPr>
          <a:xfrm>
            <a:off x="8006004" y="5621742"/>
            <a:ext cx="3248005" cy="369332"/>
          </a:xfrm>
          <a:prstGeom prst="rect">
            <a:avLst/>
          </a:prstGeom>
          <a:noFill/>
        </p:spPr>
        <p:txBody>
          <a:bodyPr wrap="none" rtlCol="0">
            <a:spAutoFit/>
          </a:bodyPr>
          <a:lstStyle/>
          <a:p>
            <a:r>
              <a:rPr lang="en-US" dirty="0">
                <a:solidFill>
                  <a:srgbClr val="FF0000"/>
                </a:solidFill>
                <a:latin typeface="Times New Roman" panose="02020603050405020304" pitchFamily="18" charset="0"/>
                <a:cs typeface="Times New Roman" panose="02020603050405020304" pitchFamily="18" charset="0"/>
              </a:rPr>
              <a:t>Fig 7: </a:t>
            </a:r>
            <a:r>
              <a:rPr lang="en-US" dirty="0">
                <a:solidFill>
                  <a:srgbClr val="FF0000"/>
                </a:solidFill>
              </a:rPr>
              <a:t> Explanation by IG (RF)</a:t>
            </a:r>
            <a:endParaRPr lang="en-US" dirty="0">
              <a:solidFill>
                <a:srgbClr val="FF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2610F76-9FD7-4D0D-AF6C-EF7D24983A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7364" y="911301"/>
            <a:ext cx="4572000" cy="4572000"/>
          </a:xfrm>
          <a:prstGeom prst="rect">
            <a:avLst/>
          </a:prstGeom>
        </p:spPr>
      </p:pic>
    </p:spTree>
    <p:extLst>
      <p:ext uri="{BB962C8B-B14F-4D97-AF65-F5344CB8AC3E}">
        <p14:creationId xmlns:p14="http://schemas.microsoft.com/office/powerpoint/2010/main" val="10376426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409364" y="6492875"/>
            <a:ext cx="683339" cy="365125"/>
          </a:xfrm>
        </p:spPr>
        <p:txBody>
          <a:bodyPr/>
          <a:lstStyle/>
          <a:p>
            <a:fld id="{DCDA61CE-80EA-4586-AB04-B95879AC9DE7}" type="slidenum">
              <a:rPr lang="en-US" sz="1800" b="1" smtClean="0">
                <a:solidFill>
                  <a:schemeClr val="tx1"/>
                </a:solidFill>
              </a:rPr>
              <a:t>28</a:t>
            </a:fld>
            <a:endParaRPr lang="en-US" sz="1800" b="1" dirty="0">
              <a:solidFill>
                <a:schemeClr val="tx1"/>
              </a:solidFill>
            </a:endParaRPr>
          </a:p>
        </p:txBody>
      </p:sp>
      <p:sp>
        <p:nvSpPr>
          <p:cNvPr id="7" name="Rectangle 6">
            <a:extLst>
              <a:ext uri="{FF2B5EF4-FFF2-40B4-BE49-F238E27FC236}">
                <a16:creationId xmlns:a16="http://schemas.microsoft.com/office/drawing/2014/main" id="{BA234461-63CE-4F89-9D34-14DA79892EEB}"/>
              </a:ext>
            </a:extLst>
          </p:cNvPr>
          <p:cNvSpPr/>
          <p:nvPr/>
        </p:nvSpPr>
        <p:spPr>
          <a:xfrm>
            <a:off x="153532" y="988389"/>
            <a:ext cx="6378241" cy="4562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latin typeface="Times New Roman" panose="02020603050405020304" pitchFamily="18" charset="0"/>
                <a:cs typeface="Times New Roman" panose="02020603050405020304" pitchFamily="18" charset="0"/>
              </a:rPr>
              <a:t>XAI</a:t>
            </a:r>
            <a:r>
              <a:rPr lang="en-US" sz="2000" dirty="0">
                <a:latin typeface="Times New Roman" panose="02020603050405020304" pitchFamily="18" charset="0"/>
                <a:cs typeface="Times New Roman" panose="02020603050405020304" pitchFamily="18" charset="0"/>
              </a:rPr>
              <a:t> FOR FEATURE IMPORTANCE</a:t>
            </a:r>
            <a:endParaRPr lang="en-US" sz="2000" b="1" dirty="0">
              <a:solidFill>
                <a:schemeClr val="tx1"/>
              </a:solidFill>
              <a:latin typeface="Times New Roman" panose="02020603050405020304" pitchFamily="18" charset="0"/>
              <a:cs typeface="Times New Roman" panose="02020603050405020304" pitchFamily="18" charset="0"/>
            </a:endParaRPr>
          </a:p>
        </p:txBody>
      </p:sp>
      <p:sp>
        <p:nvSpPr>
          <p:cNvPr id="9" name="Content Placeholder 2">
            <a:extLst>
              <a:ext uri="{FF2B5EF4-FFF2-40B4-BE49-F238E27FC236}">
                <a16:creationId xmlns:a16="http://schemas.microsoft.com/office/drawing/2014/main" id="{05C52656-3C2D-450D-BA79-5F58F1A8530F}"/>
              </a:ext>
            </a:extLst>
          </p:cNvPr>
          <p:cNvSpPr txBox="1">
            <a:spLocks/>
          </p:cNvSpPr>
          <p:nvPr/>
        </p:nvSpPr>
        <p:spPr>
          <a:xfrm>
            <a:off x="153532" y="1660203"/>
            <a:ext cx="6378241" cy="3578548"/>
          </a:xfrm>
          <a:prstGeom prst="rect">
            <a:avLst/>
          </a:prstGeom>
        </p:spPr>
        <p:style>
          <a:lnRef idx="2">
            <a:schemeClr val="accent3"/>
          </a:lnRef>
          <a:fillRef idx="1">
            <a:schemeClr val="lt1"/>
          </a:fillRef>
          <a:effectRef idx="0">
            <a:schemeClr val="accent3"/>
          </a:effectRef>
          <a:fontRef idx="minor">
            <a:schemeClr val="dk1"/>
          </a:fontRef>
        </p:style>
        <p:txBody>
          <a:bodyP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lnSpc>
                <a:spcPct val="150000"/>
              </a:lnSpc>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This study evaluates five classifiers for predicting early-stage diabetes using the Early Stage Diabetes Risk Prediction Dataset. The </a:t>
            </a:r>
            <a:r>
              <a:rPr lang="en-US" b="1" dirty="0">
                <a:solidFill>
                  <a:schemeClr val="tx1"/>
                </a:solidFill>
                <a:latin typeface="Times New Roman" panose="02020603050405020304" pitchFamily="18" charset="0"/>
                <a:cs typeface="Times New Roman" panose="02020603050405020304" pitchFamily="18" charset="0"/>
              </a:rPr>
              <a:t>X-RF</a:t>
            </a:r>
            <a:r>
              <a:rPr lang="en-US" dirty="0">
                <a:solidFill>
                  <a:schemeClr val="tx1"/>
                </a:solidFill>
                <a:latin typeface="Times New Roman" panose="02020603050405020304" pitchFamily="18" charset="0"/>
                <a:cs typeface="Times New Roman" panose="02020603050405020304" pitchFamily="18" charset="0"/>
              </a:rPr>
              <a:t> model performs best, with </a:t>
            </a:r>
            <a:r>
              <a:rPr lang="en-US" b="1" dirty="0">
                <a:solidFill>
                  <a:schemeClr val="tx1"/>
                </a:solidFill>
                <a:latin typeface="Times New Roman" panose="02020603050405020304" pitchFamily="18" charset="0"/>
                <a:cs typeface="Times New Roman" panose="02020603050405020304" pitchFamily="18" charset="0"/>
              </a:rPr>
              <a:t>98.59% </a:t>
            </a:r>
            <a:r>
              <a:rPr lang="en-US" dirty="0">
                <a:solidFill>
                  <a:schemeClr val="tx1"/>
                </a:solidFill>
                <a:latin typeface="Times New Roman" panose="02020603050405020304" pitchFamily="18" charset="0"/>
                <a:cs typeface="Times New Roman" panose="02020603050405020304" pitchFamily="18" charset="0"/>
              </a:rPr>
              <a:t>accuracy and an </a:t>
            </a:r>
            <a:r>
              <a:rPr lang="en-US" b="1" dirty="0">
                <a:solidFill>
                  <a:schemeClr val="tx1"/>
                </a:solidFill>
                <a:latin typeface="Times New Roman" panose="02020603050405020304" pitchFamily="18" charset="0"/>
                <a:cs typeface="Times New Roman" panose="02020603050405020304" pitchFamily="18" charset="0"/>
              </a:rPr>
              <a:t>F1-score of 98.58%, </a:t>
            </a:r>
            <a:r>
              <a:rPr lang="en-US" dirty="0">
                <a:solidFill>
                  <a:schemeClr val="tx1"/>
                </a:solidFill>
                <a:latin typeface="Times New Roman" panose="02020603050405020304" pitchFamily="18" charset="0"/>
                <a:cs typeface="Times New Roman" panose="02020603050405020304" pitchFamily="18" charset="0"/>
              </a:rPr>
              <a:t>demonstrating strong precision and recall. This model effectively handles complex, non-linear relationships and class imbalance. XAI techniques improve model interpretability, highlighting key features. </a:t>
            </a:r>
            <a:endParaRPr lang="en-US" sz="1800" dirty="0">
              <a:solidFill>
                <a:schemeClr val="tx1"/>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EB2DCB5B-DB71-46A8-B7D3-8BC30C38BC0B}"/>
              </a:ext>
            </a:extLst>
          </p:cNvPr>
          <p:cNvPicPr>
            <a:picLocks noChangeAspect="1"/>
          </p:cNvPicPr>
          <p:nvPr/>
        </p:nvPicPr>
        <p:blipFill>
          <a:blip r:embed="rId2"/>
          <a:stretch>
            <a:fillRect/>
          </a:stretch>
        </p:blipFill>
        <p:spPr>
          <a:xfrm>
            <a:off x="6613439" y="1660202"/>
            <a:ext cx="5479264" cy="3578548"/>
          </a:xfrm>
          <a:prstGeom prst="rect">
            <a:avLst/>
          </a:prstGeom>
          <a:ln>
            <a:noFill/>
          </a:ln>
          <a:effectLst>
            <a:outerShdw blurRad="292100" dist="139700" dir="2700000" algn="tl" rotWithShape="0">
              <a:srgbClr val="333333">
                <a:alpha val="65000"/>
              </a:srgbClr>
            </a:outerShdw>
          </a:effectLst>
        </p:spPr>
      </p:pic>
      <p:sp>
        <p:nvSpPr>
          <p:cNvPr id="11" name="Rectangle 10">
            <a:extLst>
              <a:ext uri="{FF2B5EF4-FFF2-40B4-BE49-F238E27FC236}">
                <a16:creationId xmlns:a16="http://schemas.microsoft.com/office/drawing/2014/main" id="{E4E12507-5A89-423F-82B7-2BE2E10C4F6B}"/>
              </a:ext>
            </a:extLst>
          </p:cNvPr>
          <p:cNvSpPr/>
          <p:nvPr/>
        </p:nvSpPr>
        <p:spPr>
          <a:xfrm>
            <a:off x="2471344" y="233885"/>
            <a:ext cx="6180743" cy="5389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Times New Roman" panose="02020603050405020304" pitchFamily="18" charset="0"/>
                <a:cs typeface="Times New Roman" panose="02020603050405020304" pitchFamily="18" charset="0"/>
              </a:rPr>
              <a:t>COMPARATIVE ANALYSIS</a:t>
            </a:r>
            <a:endParaRPr lang="en-US" sz="3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91963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D07806-A9FD-1FF5-8C2A-EB32578647CF}"/>
              </a:ext>
            </a:extLst>
          </p:cNvPr>
          <p:cNvSpPr>
            <a:spLocks noGrp="1"/>
          </p:cNvSpPr>
          <p:nvPr>
            <p:ph type="sldNum" sz="quarter" idx="12"/>
          </p:nvPr>
        </p:nvSpPr>
        <p:spPr>
          <a:xfrm>
            <a:off x="11417753" y="6418867"/>
            <a:ext cx="683339" cy="365125"/>
          </a:xfrm>
        </p:spPr>
        <p:txBody>
          <a:bodyPr/>
          <a:lstStyle/>
          <a:p>
            <a:fld id="{DCDA61CE-80EA-4586-AB04-B95879AC9DE7}" type="slidenum">
              <a:rPr lang="en-US" sz="1800" b="1" smtClean="0">
                <a:solidFill>
                  <a:schemeClr val="tx1"/>
                </a:solidFill>
              </a:rPr>
              <a:t>29</a:t>
            </a:fld>
            <a:endParaRPr lang="en-US" sz="1800" b="1" dirty="0">
              <a:solidFill>
                <a:schemeClr val="tx1"/>
              </a:solidFill>
            </a:endParaRPr>
          </a:p>
        </p:txBody>
      </p:sp>
      <p:sp>
        <p:nvSpPr>
          <p:cNvPr id="25" name="Rectangle 24"/>
          <p:cNvSpPr/>
          <p:nvPr/>
        </p:nvSpPr>
        <p:spPr>
          <a:xfrm>
            <a:off x="2499919" y="333277"/>
            <a:ext cx="6180743" cy="6192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latin typeface="Times New Roman" panose="02020603050405020304" pitchFamily="18" charset="0"/>
                <a:cs typeface="Times New Roman" panose="02020603050405020304" pitchFamily="18" charset="0"/>
              </a:rPr>
              <a:t>CONCLUSION</a:t>
            </a:r>
          </a:p>
        </p:txBody>
      </p:sp>
      <p:sp>
        <p:nvSpPr>
          <p:cNvPr id="6" name="Content Placeholder 2">
            <a:extLst>
              <a:ext uri="{FF2B5EF4-FFF2-40B4-BE49-F238E27FC236}">
                <a16:creationId xmlns:a16="http://schemas.microsoft.com/office/drawing/2014/main" id="{63600FB9-615A-4DC1-8ED5-3CEC243E3466}"/>
              </a:ext>
            </a:extLst>
          </p:cNvPr>
          <p:cNvSpPr txBox="1">
            <a:spLocks/>
          </p:cNvSpPr>
          <p:nvPr/>
        </p:nvSpPr>
        <p:spPr>
          <a:xfrm>
            <a:off x="267833" y="1107752"/>
            <a:ext cx="9676268" cy="5007297"/>
          </a:xfrm>
          <a:prstGeom prst="rect">
            <a:avLst/>
          </a:prstGeom>
        </p:spPr>
        <p:style>
          <a:lnRef idx="2">
            <a:schemeClr val="accent3"/>
          </a:lnRef>
          <a:fillRef idx="1">
            <a:schemeClr val="lt1"/>
          </a:fillRef>
          <a:effectRef idx="0">
            <a:schemeClr val="accent3"/>
          </a:effectRef>
          <a:fontRef idx="minor">
            <a:schemeClr val="dk1"/>
          </a:fontRef>
        </p:style>
        <p:txBody>
          <a:bodyP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This study demonstrates the effectiveness of using machine learning, particularly the Explainable Random Forest (X-RF) model, for early-stage diabetes prediction. By evaluating five classifiers—Random Forest (RF), Logistic Regression (LR), Support Vector Machine (SVM), Decision Tree (DT), and Extra Trees (ET)—the Random Forest model emerged as the most accurate to handle complex relationships and class imbalances with superior performance, making it highly reliable for diabetes prediction.</a:t>
            </a:r>
            <a:endParaRPr 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8064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8CF3C9-BA6E-3FDF-5BAA-720223FA7547}"/>
              </a:ext>
            </a:extLst>
          </p:cNvPr>
          <p:cNvSpPr>
            <a:spLocks noGrp="1"/>
          </p:cNvSpPr>
          <p:nvPr>
            <p:ph type="sldNum" sz="quarter" idx="12"/>
          </p:nvPr>
        </p:nvSpPr>
        <p:spPr>
          <a:xfrm>
            <a:off x="11508661" y="6492875"/>
            <a:ext cx="683339" cy="365125"/>
          </a:xfrm>
        </p:spPr>
        <p:txBody>
          <a:bodyPr/>
          <a:lstStyle/>
          <a:p>
            <a:fld id="{DCDA61CE-80EA-4586-AB04-B95879AC9DE7}" type="slidenum">
              <a:rPr lang="en-US" sz="1800" b="1" smtClean="0">
                <a:solidFill>
                  <a:schemeClr val="tx1"/>
                </a:solidFill>
              </a:rPr>
              <a:t>30</a:t>
            </a:fld>
            <a:endParaRPr lang="en-US" sz="1800" b="1" dirty="0">
              <a:solidFill>
                <a:schemeClr val="tx1"/>
              </a:solidFill>
            </a:endParaRPr>
          </a:p>
        </p:txBody>
      </p:sp>
      <p:sp>
        <p:nvSpPr>
          <p:cNvPr id="5" name="Rectangle 4"/>
          <p:cNvSpPr/>
          <p:nvPr/>
        </p:nvSpPr>
        <p:spPr>
          <a:xfrm>
            <a:off x="2499919" y="213339"/>
            <a:ext cx="6180743" cy="4763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latin typeface="Times New Roman" panose="02020603050405020304" pitchFamily="18" charset="0"/>
                <a:cs typeface="Times New Roman" panose="02020603050405020304" pitchFamily="18" charset="0"/>
              </a:rPr>
              <a:t>REFERENCE</a:t>
            </a:r>
          </a:p>
        </p:txBody>
      </p:sp>
      <p:sp>
        <p:nvSpPr>
          <p:cNvPr id="6" name="Content Placeholder 2">
            <a:extLst>
              <a:ext uri="{FF2B5EF4-FFF2-40B4-BE49-F238E27FC236}">
                <a16:creationId xmlns:a16="http://schemas.microsoft.com/office/drawing/2014/main" id="{A43010A5-6231-48E2-A48E-552469A554EA}"/>
              </a:ext>
            </a:extLst>
          </p:cNvPr>
          <p:cNvSpPr txBox="1">
            <a:spLocks/>
          </p:cNvSpPr>
          <p:nvPr/>
        </p:nvSpPr>
        <p:spPr>
          <a:xfrm>
            <a:off x="495298" y="789177"/>
            <a:ext cx="9627647" cy="5855484"/>
          </a:xfrm>
          <a:prstGeom prst="rect">
            <a:avLst/>
          </a:prstGeom>
        </p:spPr>
        <p:style>
          <a:lnRef idx="2">
            <a:schemeClr val="accent3"/>
          </a:lnRef>
          <a:fillRef idx="1">
            <a:schemeClr val="lt1"/>
          </a:fillRef>
          <a:effectRef idx="0">
            <a:schemeClr val="accent3"/>
          </a:effectRef>
          <a:fontRef idx="minor">
            <a:schemeClr val="dk1"/>
          </a:fontRef>
        </p:style>
        <p:txBody>
          <a:bodyP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just">
              <a:lnSpc>
                <a:spcPct val="150000"/>
              </a:lnSpc>
              <a:buNone/>
            </a:pPr>
            <a:r>
              <a:rPr lang="en-US" sz="1200" b="1" dirty="0">
                <a:latin typeface="Times New Roman" panose="02020603050405020304" pitchFamily="18" charset="0"/>
                <a:cs typeface="Times New Roman" panose="02020603050405020304" pitchFamily="18" charset="0"/>
              </a:rPr>
              <a:t>[1] </a:t>
            </a:r>
            <a:r>
              <a:rPr lang="en-US" sz="1200" dirty="0">
                <a:latin typeface="Times New Roman" panose="02020603050405020304" pitchFamily="18" charset="0"/>
                <a:cs typeface="Times New Roman" panose="02020603050405020304" pitchFamily="18" charset="0"/>
              </a:rPr>
              <a:t>L. Kopitar, P. </a:t>
            </a:r>
            <a:r>
              <a:rPr lang="en-US" sz="1200" dirty="0" err="1">
                <a:latin typeface="Times New Roman" panose="02020603050405020304" pitchFamily="18" charset="0"/>
                <a:cs typeface="Times New Roman" panose="02020603050405020304" pitchFamily="18" charset="0"/>
              </a:rPr>
              <a:t>Kocbek</a:t>
            </a:r>
            <a:r>
              <a:rPr lang="en-US" sz="1200" dirty="0">
                <a:latin typeface="Times New Roman" panose="02020603050405020304" pitchFamily="18" charset="0"/>
                <a:cs typeface="Times New Roman" panose="02020603050405020304" pitchFamily="18" charset="0"/>
              </a:rPr>
              <a:t>, L. </a:t>
            </a:r>
            <a:r>
              <a:rPr lang="en-US" sz="1200" dirty="0" err="1">
                <a:latin typeface="Times New Roman" panose="02020603050405020304" pitchFamily="18" charset="0"/>
                <a:cs typeface="Times New Roman" panose="02020603050405020304" pitchFamily="18" charset="0"/>
              </a:rPr>
              <a:t>Cilar</a:t>
            </a:r>
            <a:r>
              <a:rPr lang="en-US" sz="1200" dirty="0">
                <a:latin typeface="Times New Roman" panose="02020603050405020304" pitchFamily="18" charset="0"/>
                <a:cs typeface="Times New Roman" panose="02020603050405020304" pitchFamily="18" charset="0"/>
              </a:rPr>
              <a:t>, A. Sheikh, and G. </a:t>
            </a:r>
            <a:r>
              <a:rPr lang="en-US" sz="1200" dirty="0" err="1">
                <a:latin typeface="Times New Roman" panose="02020603050405020304" pitchFamily="18" charset="0"/>
                <a:cs typeface="Times New Roman" panose="02020603050405020304" pitchFamily="18" charset="0"/>
              </a:rPr>
              <a:t>Stiglic</a:t>
            </a:r>
            <a:r>
              <a:rPr lang="en-US" sz="1200" dirty="0">
                <a:latin typeface="Times New Roman" panose="02020603050405020304" pitchFamily="18" charset="0"/>
                <a:cs typeface="Times New Roman" panose="02020603050405020304" pitchFamily="18" charset="0"/>
              </a:rPr>
              <a:t>, “Early detection of type 2 diabetes mellitus using machine learning-based prediction models,” Scientific reports, vol. 10, no. 1, p. 11981, 2020. </a:t>
            </a:r>
          </a:p>
          <a:p>
            <a:pPr marL="0" indent="0" algn="just">
              <a:lnSpc>
                <a:spcPct val="150000"/>
              </a:lnSpc>
              <a:buNone/>
            </a:pPr>
            <a:r>
              <a:rPr lang="en-US" sz="1200" b="1" dirty="0">
                <a:latin typeface="Times New Roman" panose="02020603050405020304" pitchFamily="18" charset="0"/>
                <a:cs typeface="Times New Roman" panose="02020603050405020304" pitchFamily="18" charset="0"/>
              </a:rPr>
              <a:t>[2] </a:t>
            </a:r>
            <a:r>
              <a:rPr lang="en-US" sz="1200" dirty="0">
                <a:latin typeface="Times New Roman" panose="02020603050405020304" pitchFamily="18" charset="0"/>
                <a:cs typeface="Times New Roman" panose="02020603050405020304" pitchFamily="18" charset="0"/>
              </a:rPr>
              <a:t>H. Kaur and V. Kumari, “Predictive modelling and analytics for diabetes using a machine learning approach,” Applied computing and informatics, vol. 18, no. 1/2, pp. 90–100, 2022. </a:t>
            </a:r>
          </a:p>
          <a:p>
            <a:pPr marL="0" indent="0" algn="just">
              <a:lnSpc>
                <a:spcPct val="150000"/>
              </a:lnSpc>
              <a:buNone/>
            </a:pPr>
            <a:r>
              <a:rPr lang="en-US" sz="1200" b="1" dirty="0">
                <a:latin typeface="Times New Roman" panose="02020603050405020304" pitchFamily="18" charset="0"/>
                <a:cs typeface="Times New Roman" panose="02020603050405020304" pitchFamily="18" charset="0"/>
              </a:rPr>
              <a:t>[3] </a:t>
            </a:r>
            <a:r>
              <a:rPr lang="en-US" sz="1200" dirty="0">
                <a:latin typeface="Times New Roman" panose="02020603050405020304" pitchFamily="18" charset="0"/>
                <a:cs typeface="Times New Roman" panose="02020603050405020304" pitchFamily="18" charset="0"/>
              </a:rPr>
              <a:t>A. YAS¸AR, “Data classification of early-stage diabetes risk prediction datasets and analysis of algorithm performance using feature extraction methods and machine learning techniques,” International Journal of Intelligent Systems and Applications in Engineering, vol. 9, no. 4, pp. 273–281, 2021. </a:t>
            </a:r>
          </a:p>
          <a:p>
            <a:pPr marL="0" indent="0" algn="just">
              <a:lnSpc>
                <a:spcPct val="150000"/>
              </a:lnSpc>
              <a:buNone/>
            </a:pPr>
            <a:r>
              <a:rPr lang="en-US" sz="1200" b="1" dirty="0">
                <a:latin typeface="Times New Roman" panose="02020603050405020304" pitchFamily="18" charset="0"/>
                <a:cs typeface="Times New Roman" panose="02020603050405020304" pitchFamily="18" charset="0"/>
              </a:rPr>
              <a:t>[4] </a:t>
            </a:r>
            <a:r>
              <a:rPr lang="en-US" sz="1200" dirty="0">
                <a:latin typeface="Times New Roman" panose="02020603050405020304" pitchFamily="18" charset="0"/>
                <a:cs typeface="Times New Roman" panose="02020603050405020304" pitchFamily="18" charset="0"/>
              </a:rPr>
              <a:t>D. S. </a:t>
            </a:r>
            <a:r>
              <a:rPr lang="en-US" sz="1200" dirty="0" err="1">
                <a:latin typeface="Times New Roman" panose="02020603050405020304" pitchFamily="18" charset="0"/>
                <a:cs typeface="Times New Roman" panose="02020603050405020304" pitchFamily="18" charset="0"/>
              </a:rPr>
              <a:t>Khafaga</a:t>
            </a:r>
            <a:r>
              <a:rPr lang="en-US" sz="1200" dirty="0">
                <a:latin typeface="Times New Roman" panose="02020603050405020304" pitchFamily="18" charset="0"/>
                <a:cs typeface="Times New Roman" panose="02020603050405020304" pitchFamily="18" charset="0"/>
              </a:rPr>
              <a:t>, A. H. Alharbi, I. Mohamed, and K. M. </a:t>
            </a:r>
            <a:r>
              <a:rPr lang="en-US" sz="1200" dirty="0" err="1">
                <a:latin typeface="Times New Roman" panose="02020603050405020304" pitchFamily="18" charset="0"/>
                <a:cs typeface="Times New Roman" panose="02020603050405020304" pitchFamily="18" charset="0"/>
              </a:rPr>
              <a:t>Hosny</a:t>
            </a:r>
            <a:r>
              <a:rPr lang="en-US" sz="1200" dirty="0">
                <a:latin typeface="Times New Roman" panose="02020603050405020304" pitchFamily="18" charset="0"/>
                <a:cs typeface="Times New Roman" panose="02020603050405020304" pitchFamily="18" charset="0"/>
              </a:rPr>
              <a:t>, “An integrated classification and association rule technique for early-stage diabetes risk prediction,” in Healthcare, vol. 10, p. 2070, MDPI, 2022. </a:t>
            </a:r>
          </a:p>
          <a:p>
            <a:pPr marL="0" indent="0" algn="just">
              <a:lnSpc>
                <a:spcPct val="150000"/>
              </a:lnSpc>
              <a:buNone/>
            </a:pPr>
            <a:r>
              <a:rPr lang="en-US" sz="1200" b="1" dirty="0">
                <a:latin typeface="Times New Roman" panose="02020603050405020304" pitchFamily="18" charset="0"/>
                <a:cs typeface="Times New Roman" panose="02020603050405020304" pitchFamily="18" charset="0"/>
              </a:rPr>
              <a:t>[5] </a:t>
            </a:r>
            <a:r>
              <a:rPr lang="en-US" sz="1200" dirty="0">
                <a:latin typeface="Times New Roman" panose="02020603050405020304" pitchFamily="18" charset="0"/>
                <a:cs typeface="Times New Roman" panose="02020603050405020304" pitchFamily="18" charset="0"/>
              </a:rPr>
              <a:t>N. </a:t>
            </a:r>
            <a:r>
              <a:rPr lang="en-US" sz="1200" dirty="0" err="1">
                <a:latin typeface="Times New Roman" panose="02020603050405020304" pitchFamily="18" charset="0"/>
                <a:cs typeface="Times New Roman" panose="02020603050405020304" pitchFamily="18" charset="0"/>
              </a:rPr>
              <a:t>Elsayed</a:t>
            </a:r>
            <a:r>
              <a:rPr lang="en-US" sz="1200" dirty="0">
                <a:latin typeface="Times New Roman" panose="02020603050405020304" pitchFamily="18" charset="0"/>
                <a:cs typeface="Times New Roman" panose="02020603050405020304" pitchFamily="18" charset="0"/>
              </a:rPr>
              <a:t>, Z. </a:t>
            </a:r>
            <a:r>
              <a:rPr lang="en-US" sz="1200" dirty="0" err="1">
                <a:latin typeface="Times New Roman" panose="02020603050405020304" pitchFamily="18" charset="0"/>
                <a:cs typeface="Times New Roman" panose="02020603050405020304" pitchFamily="18" charset="0"/>
              </a:rPr>
              <a:t>ElSayed</a:t>
            </a:r>
            <a:r>
              <a:rPr lang="en-US" sz="1200" dirty="0">
                <a:latin typeface="Times New Roman" panose="02020603050405020304" pitchFamily="18" charset="0"/>
                <a:cs typeface="Times New Roman" panose="02020603050405020304" pitchFamily="18" charset="0"/>
              </a:rPr>
              <a:t>, and M. Ozer, “Early stage diabetes prediction via extreme learning machine,” in </a:t>
            </a:r>
            <a:r>
              <a:rPr lang="en-US" sz="1200" dirty="0" err="1">
                <a:latin typeface="Times New Roman" panose="02020603050405020304" pitchFamily="18" charset="0"/>
                <a:cs typeface="Times New Roman" panose="02020603050405020304" pitchFamily="18" charset="0"/>
              </a:rPr>
              <a:t>SoutheastCon</a:t>
            </a:r>
            <a:r>
              <a:rPr lang="en-US" sz="1200" dirty="0">
                <a:latin typeface="Times New Roman" panose="02020603050405020304" pitchFamily="18" charset="0"/>
                <a:cs typeface="Times New Roman" panose="02020603050405020304" pitchFamily="18" charset="0"/>
              </a:rPr>
              <a:t> 2022, pp. 374–379, IEEE, 2022.</a:t>
            </a:r>
          </a:p>
          <a:p>
            <a:pPr marL="0" indent="0" algn="just">
              <a:lnSpc>
                <a:spcPct val="150000"/>
              </a:lnSpc>
              <a:buNone/>
            </a:pPr>
            <a:r>
              <a:rPr lang="en-US" sz="1200" b="1" dirty="0">
                <a:latin typeface="Times New Roman" panose="02020603050405020304" pitchFamily="18" charset="0"/>
                <a:cs typeface="Times New Roman" panose="02020603050405020304" pitchFamily="18" charset="0"/>
              </a:rPr>
              <a:t>[6] </a:t>
            </a:r>
            <a:r>
              <a:rPr lang="en-US" sz="1200" dirty="0">
                <a:latin typeface="Times New Roman" panose="02020603050405020304" pitchFamily="18" charset="0"/>
                <a:cs typeface="Times New Roman" panose="02020603050405020304" pitchFamily="18" charset="0"/>
              </a:rPr>
              <a:t>V. </a:t>
            </a:r>
            <a:r>
              <a:rPr lang="en-US" sz="1200" dirty="0" err="1">
                <a:latin typeface="Times New Roman" panose="02020603050405020304" pitchFamily="18" charset="0"/>
                <a:cs typeface="Times New Roman" panose="02020603050405020304" pitchFamily="18" charset="0"/>
              </a:rPr>
              <a:t>Wijayaningrum</a:t>
            </a:r>
            <a:r>
              <a:rPr lang="en-US" sz="1200" dirty="0">
                <a:latin typeface="Times New Roman" panose="02020603050405020304" pitchFamily="18" charset="0"/>
                <a:cs typeface="Times New Roman" panose="02020603050405020304" pitchFamily="18" charset="0"/>
              </a:rPr>
              <a:t>, T. </a:t>
            </a:r>
            <a:r>
              <a:rPr lang="en-US" sz="1200" dirty="0" err="1">
                <a:latin typeface="Times New Roman" panose="02020603050405020304" pitchFamily="18" charset="0"/>
                <a:cs typeface="Times New Roman" panose="02020603050405020304" pitchFamily="18" charset="0"/>
              </a:rPr>
              <a:t>Saragih</a:t>
            </a:r>
            <a:r>
              <a:rPr lang="en-US" sz="1200" dirty="0">
                <a:latin typeface="Times New Roman" panose="02020603050405020304" pitchFamily="18" charset="0"/>
                <a:cs typeface="Times New Roman" panose="02020603050405020304" pitchFamily="18" charset="0"/>
              </a:rPr>
              <a:t>, and N. </a:t>
            </a:r>
            <a:r>
              <a:rPr lang="en-US" sz="1200" dirty="0" err="1">
                <a:latin typeface="Times New Roman" panose="02020603050405020304" pitchFamily="18" charset="0"/>
                <a:cs typeface="Times New Roman" panose="02020603050405020304" pitchFamily="18" charset="0"/>
              </a:rPr>
              <a:t>Putriwijaya</a:t>
            </a:r>
            <a:r>
              <a:rPr lang="en-US" sz="1200" dirty="0">
                <a:latin typeface="Times New Roman" panose="02020603050405020304" pitchFamily="18" charset="0"/>
                <a:cs typeface="Times New Roman" panose="02020603050405020304" pitchFamily="18" charset="0"/>
              </a:rPr>
              <a:t>, “Optimal multilayer perceptron parameters for early stage diabetes risk prediction,” in IOP Conference Series: Materials Science and Engineering, vol. 1073, p. 012070, IOP Publishing, 2021.</a:t>
            </a:r>
          </a:p>
          <a:p>
            <a:pPr marL="0" indent="0" algn="just">
              <a:lnSpc>
                <a:spcPct val="150000"/>
              </a:lnSpc>
              <a:buNone/>
            </a:pPr>
            <a:r>
              <a:rPr lang="en-US" sz="1200" b="1" dirty="0">
                <a:latin typeface="Times New Roman" panose="02020603050405020304" pitchFamily="18" charset="0"/>
                <a:cs typeface="Times New Roman" panose="02020603050405020304" pitchFamily="18" charset="0"/>
              </a:rPr>
              <a:t>[7] </a:t>
            </a:r>
            <a:r>
              <a:rPr lang="en-US" sz="1200" dirty="0">
                <a:latin typeface="Times New Roman" panose="02020603050405020304" pitchFamily="18" charset="0"/>
                <a:cs typeface="Times New Roman" panose="02020603050405020304" pitchFamily="18" charset="0"/>
              </a:rPr>
              <a:t>O. N. Erg ¨ un¨ et al., “Early stage diabetes prediction using machine learning methods,” </a:t>
            </a:r>
            <a:r>
              <a:rPr lang="en-US" sz="1200" dirty="0" err="1">
                <a:latin typeface="Times New Roman" panose="02020603050405020304" pitchFamily="18" charset="0"/>
                <a:cs typeface="Times New Roman" panose="02020603050405020304" pitchFamily="18" charset="0"/>
              </a:rPr>
              <a:t>Avrupa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Bilim</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ve</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Teknoloji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Dergisi</a:t>
            </a:r>
            <a:r>
              <a:rPr lang="en-US" sz="1200" dirty="0">
                <a:latin typeface="Times New Roman" panose="02020603050405020304" pitchFamily="18" charset="0"/>
                <a:cs typeface="Times New Roman" panose="02020603050405020304" pitchFamily="18" charset="0"/>
              </a:rPr>
              <a:t>, no. 29, pp. 52–57, 2021. </a:t>
            </a:r>
          </a:p>
          <a:p>
            <a:pPr marL="0" indent="0" algn="just">
              <a:lnSpc>
                <a:spcPct val="150000"/>
              </a:lnSpc>
              <a:buNone/>
            </a:pPr>
            <a:r>
              <a:rPr lang="en-US" sz="1200" b="1" dirty="0">
                <a:latin typeface="Times New Roman" panose="02020603050405020304" pitchFamily="18" charset="0"/>
                <a:cs typeface="Times New Roman" panose="02020603050405020304" pitchFamily="18" charset="0"/>
              </a:rPr>
              <a:t>[8] </a:t>
            </a:r>
            <a:r>
              <a:rPr lang="en-US" sz="1200" dirty="0">
                <a:latin typeface="Times New Roman" panose="02020603050405020304" pitchFamily="18" charset="0"/>
                <a:cs typeface="Times New Roman" panose="02020603050405020304" pitchFamily="18" charset="0"/>
              </a:rPr>
              <a:t>M. </a:t>
            </a:r>
            <a:r>
              <a:rPr lang="en-US" sz="1200" dirty="0" err="1">
                <a:latin typeface="Times New Roman" panose="02020603050405020304" pitchFamily="18" charset="0"/>
                <a:cs typeface="Times New Roman" panose="02020603050405020304" pitchFamily="18" charset="0"/>
              </a:rPr>
              <a:t>Zarar</a:t>
            </a:r>
            <a:r>
              <a:rPr lang="en-US" sz="1200" dirty="0">
                <a:latin typeface="Times New Roman" panose="02020603050405020304" pitchFamily="18" charset="0"/>
                <a:cs typeface="Times New Roman" panose="02020603050405020304" pitchFamily="18" charset="0"/>
              </a:rPr>
              <a:t> and Y. Wang, “Early stage diabetes prediction by approach using machine learning techniques,” 2023.</a:t>
            </a:r>
          </a:p>
        </p:txBody>
      </p:sp>
    </p:spTree>
    <p:extLst>
      <p:ext uri="{BB962C8B-B14F-4D97-AF65-F5344CB8AC3E}">
        <p14:creationId xmlns:p14="http://schemas.microsoft.com/office/powerpoint/2010/main" val="12924080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8CF3C9-BA6E-3FDF-5BAA-720223FA7547}"/>
              </a:ext>
            </a:extLst>
          </p:cNvPr>
          <p:cNvSpPr>
            <a:spLocks noGrp="1"/>
          </p:cNvSpPr>
          <p:nvPr>
            <p:ph type="sldNum" sz="quarter" idx="12"/>
          </p:nvPr>
        </p:nvSpPr>
        <p:spPr>
          <a:xfrm>
            <a:off x="11508661" y="6492875"/>
            <a:ext cx="683339" cy="365125"/>
          </a:xfrm>
        </p:spPr>
        <p:txBody>
          <a:bodyPr/>
          <a:lstStyle/>
          <a:p>
            <a:fld id="{DCDA61CE-80EA-4586-AB04-B95879AC9DE7}" type="slidenum">
              <a:rPr lang="en-US" sz="1800" b="1" smtClean="0">
                <a:solidFill>
                  <a:schemeClr val="tx1"/>
                </a:solidFill>
              </a:rPr>
              <a:t>31</a:t>
            </a:fld>
            <a:endParaRPr lang="en-US" sz="1800" b="1" dirty="0">
              <a:solidFill>
                <a:schemeClr val="tx1"/>
              </a:solidFill>
            </a:endParaRPr>
          </a:p>
        </p:txBody>
      </p:sp>
      <p:sp>
        <p:nvSpPr>
          <p:cNvPr id="5" name="Rectangle 4"/>
          <p:cNvSpPr/>
          <p:nvPr/>
        </p:nvSpPr>
        <p:spPr>
          <a:xfrm>
            <a:off x="2499919" y="213339"/>
            <a:ext cx="6180743" cy="4763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latin typeface="Times New Roman" panose="02020603050405020304" pitchFamily="18" charset="0"/>
                <a:cs typeface="Times New Roman" panose="02020603050405020304" pitchFamily="18" charset="0"/>
              </a:rPr>
              <a:t>REFERENCE (Cond..)</a:t>
            </a:r>
          </a:p>
        </p:txBody>
      </p:sp>
      <p:sp>
        <p:nvSpPr>
          <p:cNvPr id="6" name="Content Placeholder 2">
            <a:extLst>
              <a:ext uri="{FF2B5EF4-FFF2-40B4-BE49-F238E27FC236}">
                <a16:creationId xmlns:a16="http://schemas.microsoft.com/office/drawing/2014/main" id="{A43010A5-6231-48E2-A48E-552469A554EA}"/>
              </a:ext>
            </a:extLst>
          </p:cNvPr>
          <p:cNvSpPr txBox="1">
            <a:spLocks/>
          </p:cNvSpPr>
          <p:nvPr/>
        </p:nvSpPr>
        <p:spPr>
          <a:xfrm>
            <a:off x="495299" y="789177"/>
            <a:ext cx="9229726" cy="5855484"/>
          </a:xfrm>
          <a:prstGeom prst="rect">
            <a:avLst/>
          </a:prstGeom>
        </p:spPr>
        <p:style>
          <a:lnRef idx="2">
            <a:schemeClr val="accent3"/>
          </a:lnRef>
          <a:fillRef idx="1">
            <a:schemeClr val="lt1"/>
          </a:fillRef>
          <a:effectRef idx="0">
            <a:schemeClr val="accent3"/>
          </a:effectRef>
          <a:fontRef idx="minor">
            <a:schemeClr val="dk1"/>
          </a:fontRef>
        </p:style>
        <p:txBody>
          <a:bodyP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just">
              <a:lnSpc>
                <a:spcPct val="150000"/>
              </a:lnSpc>
              <a:buNone/>
            </a:pPr>
            <a:r>
              <a:rPr lang="en-US" sz="1200" b="1" dirty="0">
                <a:latin typeface="Times New Roman" panose="02020603050405020304" pitchFamily="18" charset="0"/>
                <a:cs typeface="Times New Roman" panose="02020603050405020304" pitchFamily="18" charset="0"/>
              </a:rPr>
              <a:t>[9] </a:t>
            </a:r>
            <a:r>
              <a:rPr lang="en-US" sz="1200" dirty="0">
                <a:latin typeface="Times New Roman" panose="02020603050405020304" pitchFamily="18" charset="0"/>
                <a:cs typeface="Times New Roman" panose="02020603050405020304" pitchFamily="18" charset="0"/>
              </a:rPr>
              <a:t>V. Vakil, S. </a:t>
            </a:r>
            <a:r>
              <a:rPr lang="en-US" sz="1200" dirty="0" err="1">
                <a:latin typeface="Times New Roman" panose="02020603050405020304" pitchFamily="18" charset="0"/>
                <a:cs typeface="Times New Roman" panose="02020603050405020304" pitchFamily="18" charset="0"/>
              </a:rPr>
              <a:t>Pachchigar</a:t>
            </a:r>
            <a:r>
              <a:rPr lang="en-US" sz="1200" dirty="0">
                <a:latin typeface="Times New Roman" panose="02020603050405020304" pitchFamily="18" charset="0"/>
                <a:cs typeface="Times New Roman" panose="02020603050405020304" pitchFamily="18" charset="0"/>
              </a:rPr>
              <a:t>, C. </a:t>
            </a:r>
            <a:r>
              <a:rPr lang="en-US" sz="1200" dirty="0" err="1">
                <a:latin typeface="Times New Roman" panose="02020603050405020304" pitchFamily="18" charset="0"/>
                <a:cs typeface="Times New Roman" panose="02020603050405020304" pitchFamily="18" charset="0"/>
              </a:rPr>
              <a:t>Chavda</a:t>
            </a:r>
            <a:r>
              <a:rPr lang="en-US" sz="1200" dirty="0">
                <a:latin typeface="Times New Roman" panose="02020603050405020304" pitchFamily="18" charset="0"/>
                <a:cs typeface="Times New Roman" panose="02020603050405020304" pitchFamily="18" charset="0"/>
              </a:rPr>
              <a:t>, and S. </a:t>
            </a:r>
            <a:r>
              <a:rPr lang="en-US" sz="1200" dirty="0" err="1">
                <a:latin typeface="Times New Roman" panose="02020603050405020304" pitchFamily="18" charset="0"/>
                <a:cs typeface="Times New Roman" panose="02020603050405020304" pitchFamily="18" charset="0"/>
              </a:rPr>
              <a:t>Soni</a:t>
            </a:r>
            <a:r>
              <a:rPr lang="en-US" sz="1200" dirty="0">
                <a:latin typeface="Times New Roman" panose="02020603050405020304" pitchFamily="18" charset="0"/>
                <a:cs typeface="Times New Roman" panose="02020603050405020304" pitchFamily="18" charset="0"/>
              </a:rPr>
              <a:t>, “Explainable predictions of different machine learning algorithms used to predict early stage diabetes,” </a:t>
            </a:r>
            <a:r>
              <a:rPr lang="en-US" sz="1200" dirty="0" err="1">
                <a:latin typeface="Times New Roman" panose="02020603050405020304" pitchFamily="18" charset="0"/>
                <a:cs typeface="Times New Roman" panose="02020603050405020304" pitchFamily="18" charset="0"/>
              </a:rPr>
              <a:t>arXiv</a:t>
            </a:r>
            <a:r>
              <a:rPr lang="en-US" sz="1200" dirty="0">
                <a:latin typeface="Times New Roman" panose="02020603050405020304" pitchFamily="18" charset="0"/>
                <a:cs typeface="Times New Roman" panose="02020603050405020304" pitchFamily="18" charset="0"/>
              </a:rPr>
              <a:t> preprint arXiv:2111.09939, 2021. </a:t>
            </a:r>
          </a:p>
          <a:p>
            <a:pPr marL="0" indent="0" algn="just">
              <a:lnSpc>
                <a:spcPct val="150000"/>
              </a:lnSpc>
              <a:buNone/>
            </a:pPr>
            <a:r>
              <a:rPr lang="en-US" sz="1200" b="1" dirty="0">
                <a:latin typeface="Times New Roman" panose="02020603050405020304" pitchFamily="18" charset="0"/>
                <a:cs typeface="Times New Roman" panose="02020603050405020304" pitchFamily="18" charset="0"/>
              </a:rPr>
              <a:t>[10] </a:t>
            </a:r>
            <a:r>
              <a:rPr lang="en-US" sz="1200" dirty="0">
                <a:latin typeface="Times New Roman" panose="02020603050405020304" pitchFamily="18" charset="0"/>
                <a:cs typeface="Times New Roman" panose="02020603050405020304" pitchFamily="18" charset="0"/>
              </a:rPr>
              <a:t>A. Y. </a:t>
            </a:r>
            <a:r>
              <a:rPr lang="en-US" sz="1200" dirty="0" err="1">
                <a:latin typeface="Times New Roman" panose="02020603050405020304" pitchFamily="18" charset="0"/>
                <a:cs typeface="Times New Roman" panose="02020603050405020304" pitchFamily="18" charset="0"/>
              </a:rPr>
              <a:t>Abushawish</a:t>
            </a:r>
            <a:r>
              <a:rPr lang="en-US" sz="1200" dirty="0">
                <a:latin typeface="Times New Roman" panose="02020603050405020304" pitchFamily="18" charset="0"/>
                <a:cs typeface="Times New Roman" panose="02020603050405020304" pitchFamily="18" charset="0"/>
              </a:rPr>
              <a:t> and A. B. Nassif, “Prediction of early-stage diabetes using machine learning,” in 2023 Advances in Science and Engineering Technology International Conferences (ASET), pp. 1–4, IEEE, 2023. </a:t>
            </a:r>
          </a:p>
          <a:p>
            <a:pPr marL="0" indent="0" algn="just">
              <a:lnSpc>
                <a:spcPct val="150000"/>
              </a:lnSpc>
              <a:buNone/>
            </a:pPr>
            <a:r>
              <a:rPr lang="en-US" sz="1200" b="1" dirty="0">
                <a:latin typeface="Times New Roman" panose="02020603050405020304" pitchFamily="18" charset="0"/>
                <a:cs typeface="Times New Roman" panose="02020603050405020304" pitchFamily="18" charset="0"/>
              </a:rPr>
              <a:t>[11] </a:t>
            </a:r>
            <a:r>
              <a:rPr lang="en-US" sz="1200" dirty="0">
                <a:latin typeface="Times New Roman" panose="02020603050405020304" pitchFamily="18" charset="0"/>
                <a:cs typeface="Times New Roman" panose="02020603050405020304" pitchFamily="18" charset="0"/>
              </a:rPr>
              <a:t>M. A. R. </a:t>
            </a:r>
            <a:r>
              <a:rPr lang="en-US" sz="1200" dirty="0" err="1">
                <a:latin typeface="Times New Roman" panose="02020603050405020304" pitchFamily="18" charset="0"/>
                <a:cs typeface="Times New Roman" panose="02020603050405020304" pitchFamily="18" charset="0"/>
              </a:rPr>
              <a:t>Refat</a:t>
            </a:r>
            <a:r>
              <a:rPr lang="en-US" sz="1200" dirty="0">
                <a:latin typeface="Times New Roman" panose="02020603050405020304" pitchFamily="18" charset="0"/>
                <a:cs typeface="Times New Roman" panose="02020603050405020304" pitchFamily="18" charset="0"/>
              </a:rPr>
              <a:t>, M. Al Amin, C. Kaushal, M. N. </a:t>
            </a:r>
            <a:r>
              <a:rPr lang="en-US" sz="1200" dirty="0" err="1">
                <a:latin typeface="Times New Roman" panose="02020603050405020304" pitchFamily="18" charset="0"/>
                <a:cs typeface="Times New Roman" panose="02020603050405020304" pitchFamily="18" charset="0"/>
              </a:rPr>
              <a:t>Yeasmin</a:t>
            </a:r>
            <a:r>
              <a:rPr lang="en-US" sz="1200" dirty="0">
                <a:latin typeface="Times New Roman" panose="02020603050405020304" pitchFamily="18" charset="0"/>
                <a:cs typeface="Times New Roman" panose="02020603050405020304" pitchFamily="18" charset="0"/>
              </a:rPr>
              <a:t>, and M. K. Islam, “A comparative analysis of early stage diabetes prediction using machine learning and deep learning approach,” in 2021 6th International Conference on Signal Processing, Computing and Control (ISPCC), pp. 654–659, IEEE, 2021. </a:t>
            </a:r>
          </a:p>
          <a:p>
            <a:pPr marL="0" indent="0" algn="just">
              <a:lnSpc>
                <a:spcPct val="150000"/>
              </a:lnSpc>
              <a:buNone/>
            </a:pPr>
            <a:r>
              <a:rPr lang="en-US" sz="1200" b="1" dirty="0">
                <a:latin typeface="Times New Roman" panose="02020603050405020304" pitchFamily="18" charset="0"/>
                <a:cs typeface="Times New Roman" panose="02020603050405020304" pitchFamily="18" charset="0"/>
              </a:rPr>
              <a:t>[12] </a:t>
            </a:r>
            <a:r>
              <a:rPr lang="en-US" sz="1200" dirty="0">
                <a:latin typeface="Times New Roman" panose="02020603050405020304" pitchFamily="18" charset="0"/>
                <a:cs typeface="Times New Roman" panose="02020603050405020304" pitchFamily="18" charset="0"/>
              </a:rPr>
              <a:t>S. </a:t>
            </a:r>
            <a:r>
              <a:rPr lang="en-US" sz="1200" dirty="0" err="1">
                <a:latin typeface="Times New Roman" panose="02020603050405020304" pitchFamily="18" charset="0"/>
                <a:cs typeface="Times New Roman" panose="02020603050405020304" pitchFamily="18" charset="0"/>
              </a:rPr>
              <a:t>Gundo</a:t>
            </a:r>
            <a:r>
              <a:rPr lang="en-US" sz="1200" dirty="0">
                <a:latin typeface="Times New Roman" panose="02020603050405020304" pitchFamily="18" charset="0"/>
                <a:cs typeface="Times New Roman" panose="02020603050405020304" pitchFamily="18" charset="0"/>
              </a:rPr>
              <a:t> ¨ </a:t>
            </a:r>
            <a:r>
              <a:rPr lang="en-US" sz="1200" dirty="0" err="1">
                <a:latin typeface="Times New Roman" panose="02020603050405020304" pitchFamily="18" charset="0"/>
                <a:cs typeface="Times New Roman" panose="02020603050405020304" pitchFamily="18" charset="0"/>
              </a:rPr>
              <a:t>gdu</a:t>
            </a:r>
            <a:r>
              <a:rPr lang="en-US" sz="1200" dirty="0">
                <a:latin typeface="Times New Roman" panose="02020603050405020304" pitchFamily="18" charset="0"/>
                <a:cs typeface="Times New Roman" panose="02020603050405020304" pitchFamily="18" charset="0"/>
              </a:rPr>
              <a:t>, “Efficient prediction of early-stage diabetes using </a:t>
            </a:r>
            <a:r>
              <a:rPr lang="en-US" sz="1200" dirty="0" err="1">
                <a:latin typeface="Times New Roman" panose="02020603050405020304" pitchFamily="18" charset="0"/>
                <a:cs typeface="Times New Roman" panose="02020603050405020304" pitchFamily="18" charset="0"/>
              </a:rPr>
              <a:t>xgboost</a:t>
            </a:r>
            <a:r>
              <a:rPr lang="en-US" sz="1200" dirty="0">
                <a:latin typeface="Times New Roman" panose="02020603050405020304" pitchFamily="18" charset="0"/>
                <a:cs typeface="Times New Roman" panose="02020603050405020304" pitchFamily="18" charset="0"/>
              </a:rPr>
              <a:t> ˘ classifier with random forest feature selection technique,” Multimedia Tools and Applications, vol. 82, no. 22, pp. 34163–34181, 2023. </a:t>
            </a:r>
          </a:p>
          <a:p>
            <a:pPr marL="0" indent="0" algn="just">
              <a:lnSpc>
                <a:spcPct val="150000"/>
              </a:lnSpc>
              <a:buNone/>
            </a:pPr>
            <a:r>
              <a:rPr lang="en-US" sz="1200" b="1" dirty="0">
                <a:latin typeface="Times New Roman" panose="02020603050405020304" pitchFamily="18" charset="0"/>
                <a:cs typeface="Times New Roman" panose="02020603050405020304" pitchFamily="18" charset="0"/>
              </a:rPr>
              <a:t>[13] </a:t>
            </a:r>
            <a:r>
              <a:rPr lang="en-US" sz="1200" dirty="0">
                <a:latin typeface="Times New Roman" panose="02020603050405020304" pitchFamily="18" charset="0"/>
                <a:cs typeface="Times New Roman" panose="02020603050405020304" pitchFamily="18" charset="0"/>
              </a:rPr>
              <a:t>U. E. Laila, K. Mahboob, A. W. Khan, F. Khan, and W. </a:t>
            </a:r>
            <a:r>
              <a:rPr lang="en-US" sz="1200" dirty="0" err="1">
                <a:latin typeface="Times New Roman" panose="02020603050405020304" pitchFamily="18" charset="0"/>
                <a:cs typeface="Times New Roman" panose="02020603050405020304" pitchFamily="18" charset="0"/>
              </a:rPr>
              <a:t>Taekeun</a:t>
            </a:r>
            <a:r>
              <a:rPr lang="en-US" sz="1200" dirty="0">
                <a:latin typeface="Times New Roman" panose="02020603050405020304" pitchFamily="18" charset="0"/>
                <a:cs typeface="Times New Roman" panose="02020603050405020304" pitchFamily="18" charset="0"/>
              </a:rPr>
              <a:t>, “An ensemble approach to predict early-stage diabetes risk using machine learning: An empirical study,” Sensors, vol. 22, no. 14, p. 5247, 2022. </a:t>
            </a:r>
          </a:p>
          <a:p>
            <a:pPr marL="0" indent="0" algn="just">
              <a:lnSpc>
                <a:spcPct val="150000"/>
              </a:lnSpc>
              <a:buNone/>
            </a:pPr>
            <a:r>
              <a:rPr lang="en-US" sz="1200" b="1" dirty="0">
                <a:latin typeface="Times New Roman" panose="02020603050405020304" pitchFamily="18" charset="0"/>
                <a:cs typeface="Times New Roman" panose="02020603050405020304" pitchFamily="18" charset="0"/>
              </a:rPr>
              <a:t>[14] </a:t>
            </a:r>
            <a:r>
              <a:rPr lang="en-US" sz="1200" dirty="0">
                <a:latin typeface="Times New Roman" panose="02020603050405020304" pitchFamily="18" charset="0"/>
                <a:cs typeface="Times New Roman" panose="02020603050405020304" pitchFamily="18" charset="0"/>
              </a:rPr>
              <a:t>S. </a:t>
            </a:r>
            <a:r>
              <a:rPr lang="en-US" sz="1200" dirty="0" err="1">
                <a:latin typeface="Times New Roman" panose="02020603050405020304" pitchFamily="18" charset="0"/>
                <a:cs typeface="Times New Roman" panose="02020603050405020304" pitchFamily="18" charset="0"/>
              </a:rPr>
              <a:t>Samet</a:t>
            </a:r>
            <a:r>
              <a:rPr lang="en-US" sz="1200" dirty="0">
                <a:latin typeface="Times New Roman" panose="02020603050405020304" pitchFamily="18" charset="0"/>
                <a:cs typeface="Times New Roman" panose="02020603050405020304" pitchFamily="18" charset="0"/>
              </a:rPr>
              <a:t>, M. R. </a:t>
            </a:r>
            <a:r>
              <a:rPr lang="en-US" sz="1200" dirty="0" err="1">
                <a:latin typeface="Times New Roman" panose="02020603050405020304" pitchFamily="18" charset="0"/>
                <a:cs typeface="Times New Roman" panose="02020603050405020304" pitchFamily="18" charset="0"/>
              </a:rPr>
              <a:t>Laouar</a:t>
            </a:r>
            <a:r>
              <a:rPr lang="en-US" sz="1200" dirty="0">
                <a:latin typeface="Times New Roman" panose="02020603050405020304" pitchFamily="18" charset="0"/>
                <a:cs typeface="Times New Roman" panose="02020603050405020304" pitchFamily="18" charset="0"/>
              </a:rPr>
              <a:t>, and I. </a:t>
            </a:r>
            <a:r>
              <a:rPr lang="en-US" sz="1200" dirty="0" err="1">
                <a:latin typeface="Times New Roman" panose="02020603050405020304" pitchFamily="18" charset="0"/>
                <a:cs typeface="Times New Roman" panose="02020603050405020304" pitchFamily="18" charset="0"/>
              </a:rPr>
              <a:t>Bendib</a:t>
            </a:r>
            <a:r>
              <a:rPr lang="en-US" sz="1200" dirty="0">
                <a:latin typeface="Times New Roman" panose="02020603050405020304" pitchFamily="18" charset="0"/>
                <a:cs typeface="Times New Roman" panose="02020603050405020304" pitchFamily="18" charset="0"/>
              </a:rPr>
              <a:t>, “Diabetes mellitus early stage risk prediction using machine learning algorithms,” in 2021 International Conference on Networking and Advanced Systems (ICNAS), pp. 1–6, IEEE, 2021. </a:t>
            </a:r>
          </a:p>
          <a:p>
            <a:pPr marL="0" indent="0" algn="just">
              <a:lnSpc>
                <a:spcPct val="150000"/>
              </a:lnSpc>
              <a:buNone/>
            </a:pPr>
            <a:r>
              <a:rPr lang="en-US" sz="1200" b="1" dirty="0">
                <a:latin typeface="Times New Roman" panose="02020603050405020304" pitchFamily="18" charset="0"/>
                <a:cs typeface="Times New Roman" panose="02020603050405020304" pitchFamily="18" charset="0"/>
              </a:rPr>
              <a:t>[15] </a:t>
            </a:r>
            <a:r>
              <a:rPr lang="en-US" sz="1200" dirty="0">
                <a:latin typeface="Times New Roman" panose="02020603050405020304" pitchFamily="18" charset="0"/>
                <a:cs typeface="Times New Roman" panose="02020603050405020304" pitchFamily="18" charset="0"/>
              </a:rPr>
              <a:t>X. Chen, S. Zhou, L. Yang, Q. Zhong, H. Liu, Y. Zhang, H. Yu, and Y. Cai, “Risk prediction of diabetes progression using big data mining with multifarious physical examination indicators,” Diabetes, Metabolic Syndrome and Obesity, pp. 1249–1265, 2024. </a:t>
            </a:r>
          </a:p>
          <a:p>
            <a:pPr marL="0" indent="0" algn="just">
              <a:lnSpc>
                <a:spcPct val="150000"/>
              </a:lnSpc>
              <a:buNone/>
            </a:pPr>
            <a:r>
              <a:rPr lang="en-US" sz="1200" b="1" dirty="0">
                <a:latin typeface="Times New Roman" panose="02020603050405020304" pitchFamily="18" charset="0"/>
                <a:cs typeface="Times New Roman" panose="02020603050405020304" pitchFamily="18" charset="0"/>
              </a:rPr>
              <a:t>[16] </a:t>
            </a:r>
            <a:r>
              <a:rPr lang="en-US" sz="1200" dirty="0">
                <a:latin typeface="Times New Roman" panose="02020603050405020304" pitchFamily="18" charset="0"/>
                <a:cs typeface="Times New Roman" panose="02020603050405020304" pitchFamily="18" charset="0"/>
              </a:rPr>
              <a:t>“Early stage diabetes risk prediction - </a:t>
            </a:r>
            <a:r>
              <a:rPr lang="en-US" sz="1200" dirty="0" err="1">
                <a:latin typeface="Times New Roman" panose="02020603050405020304" pitchFamily="18" charset="0"/>
                <a:cs typeface="Times New Roman" panose="02020603050405020304" pitchFamily="18" charset="0"/>
              </a:rPr>
              <a:t>uci</a:t>
            </a:r>
            <a:r>
              <a:rPr lang="en-US" sz="1200" dirty="0">
                <a:latin typeface="Times New Roman" panose="02020603050405020304" pitchFamily="18" charset="0"/>
                <a:cs typeface="Times New Roman" panose="02020603050405020304" pitchFamily="18" charset="0"/>
              </a:rPr>
              <a:t> machine learning repository.” https://archive.ics.uci.edu/dataset/529/early+stage+diabetes+risk+ </a:t>
            </a:r>
            <a:r>
              <a:rPr lang="en-US" sz="1200" dirty="0" err="1">
                <a:latin typeface="Times New Roman" panose="02020603050405020304" pitchFamily="18" charset="0"/>
                <a:cs typeface="Times New Roman" panose="02020603050405020304" pitchFamily="18" charset="0"/>
              </a:rPr>
              <a:t>prediction+dataset</a:t>
            </a:r>
            <a:r>
              <a:rPr lang="en-US" sz="1200" dirty="0">
                <a:latin typeface="Times New Roman" panose="02020603050405020304" pitchFamily="18" charset="0"/>
                <a:cs typeface="Times New Roman" panose="02020603050405020304" pitchFamily="18" charset="0"/>
              </a:rPr>
              <a:t>. (Accessed on 09/01/2024).</a:t>
            </a:r>
          </a:p>
        </p:txBody>
      </p:sp>
    </p:spTree>
    <p:extLst>
      <p:ext uri="{BB962C8B-B14F-4D97-AF65-F5344CB8AC3E}">
        <p14:creationId xmlns:p14="http://schemas.microsoft.com/office/powerpoint/2010/main" val="28176549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F1CE5BC-FF2D-6C82-3863-AA91B74DAA99}"/>
              </a:ext>
            </a:extLst>
          </p:cNvPr>
          <p:cNvSpPr>
            <a:spLocks noGrp="1"/>
          </p:cNvSpPr>
          <p:nvPr>
            <p:ph type="sldNum" sz="quarter" idx="12"/>
          </p:nvPr>
        </p:nvSpPr>
        <p:spPr>
          <a:xfrm>
            <a:off x="11489611" y="6492875"/>
            <a:ext cx="683339" cy="365125"/>
          </a:xfrm>
        </p:spPr>
        <p:txBody>
          <a:bodyPr/>
          <a:lstStyle/>
          <a:p>
            <a:fld id="{DCDA61CE-80EA-4586-AB04-B95879AC9DE7}" type="slidenum">
              <a:rPr lang="en-US" sz="1800" b="1" smtClean="0">
                <a:solidFill>
                  <a:schemeClr val="tx1"/>
                </a:solidFill>
                <a:latin typeface="Times New Roman" panose="02020603050405020304" pitchFamily="18" charset="0"/>
                <a:cs typeface="Times New Roman" panose="02020603050405020304" pitchFamily="18" charset="0"/>
              </a:rPr>
              <a:t>32</a:t>
            </a:fld>
            <a:endParaRPr lang="en-US" sz="1800" b="1" dirty="0">
              <a:solidFill>
                <a:schemeClr val="tx1"/>
              </a:solidFill>
              <a:latin typeface="Times New Roman" panose="02020603050405020304" pitchFamily="18" charset="0"/>
              <a:cs typeface="Times New Roman" panose="02020603050405020304" pitchFamily="18" charset="0"/>
            </a:endParaRPr>
          </a:p>
        </p:txBody>
      </p:sp>
      <p:sp>
        <p:nvSpPr>
          <p:cNvPr id="5" name="Content Placeholder 3">
            <a:extLst>
              <a:ext uri="{FF2B5EF4-FFF2-40B4-BE49-F238E27FC236}">
                <a16:creationId xmlns:a16="http://schemas.microsoft.com/office/drawing/2014/main" id="{381640F0-3C84-35A7-3A08-4926B4770918}"/>
              </a:ext>
            </a:extLst>
          </p:cNvPr>
          <p:cNvSpPr txBox="1">
            <a:spLocks/>
          </p:cNvSpPr>
          <p:nvPr/>
        </p:nvSpPr>
        <p:spPr>
          <a:xfrm>
            <a:off x="853604" y="2130849"/>
            <a:ext cx="7709746" cy="219249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9600" dirty="0">
                <a:latin typeface="Algerian" panose="04020705040A02060702" pitchFamily="82" charset="0"/>
              </a:rPr>
              <a:t>  </a:t>
            </a:r>
            <a:r>
              <a:rPr lang="en-US" sz="9600" dirty="0">
                <a:solidFill>
                  <a:schemeClr val="tx1"/>
                </a:solidFill>
                <a:latin typeface="Algerian" panose="04020705040A02060702" pitchFamily="82" charset="0"/>
              </a:rPr>
              <a:t>Thank You</a:t>
            </a:r>
          </a:p>
        </p:txBody>
      </p:sp>
    </p:spTree>
    <p:extLst>
      <p:ext uri="{BB962C8B-B14F-4D97-AF65-F5344CB8AC3E}">
        <p14:creationId xmlns:p14="http://schemas.microsoft.com/office/powerpoint/2010/main" val="180462768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10452</TotalTime>
  <Words>3286</Words>
  <Application>Microsoft Office PowerPoint</Application>
  <PresentationFormat>Widescreen</PresentationFormat>
  <Paragraphs>250</Paragraphs>
  <Slides>32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Algerian</vt:lpstr>
      <vt:lpstr>Arial</vt:lpstr>
      <vt:lpstr>Arial Black</vt:lpstr>
      <vt:lpstr>Calibri</vt:lpstr>
      <vt:lpstr>Times New Roman</vt:lpstr>
      <vt:lpstr>Trebuchet MS</vt:lpstr>
      <vt:lpstr>Wingdings</vt:lpstr>
      <vt:lpstr>Wingdings 3</vt:lpstr>
      <vt:lpstr>Facet</vt:lpstr>
      <vt:lpstr>“X-Random Forest: An Explainable AI Framework for Early Stage Diabetes Prediction with Hyperparameter Tuning and Cross-validation”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IDENTIFY THE CATEGORIZED MEDICINES ON THE BASIS OF MULTIPLE DISEASES BY MACHINE LEARNING</dc:title>
  <dc:creator>Shakil Ahamed</dc:creator>
  <cp:lastModifiedBy>User</cp:lastModifiedBy>
  <cp:revision>194</cp:revision>
  <dcterms:created xsi:type="dcterms:W3CDTF">2022-07-26T05:26:13Z</dcterms:created>
  <dcterms:modified xsi:type="dcterms:W3CDTF">2024-10-31T00:36:48Z</dcterms:modified>
</cp:coreProperties>
</file>